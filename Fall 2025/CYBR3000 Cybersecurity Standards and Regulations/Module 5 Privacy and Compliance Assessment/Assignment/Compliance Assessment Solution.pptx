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17"/>
  </p:notesMasterIdLst>
  <p:handoutMasterIdLst>
    <p:handoutMasterId r:id="rId18"/>
  </p:handoutMasterIdLst>
  <p:sldIdLst>
    <p:sldId id="278" r:id="rId5"/>
    <p:sldId id="280" r:id="rId6"/>
    <p:sldId id="281" r:id="rId7"/>
    <p:sldId id="282" r:id="rId8"/>
    <p:sldId id="283" r:id="rId9"/>
    <p:sldId id="284" r:id="rId10"/>
    <p:sldId id="308" r:id="rId11"/>
    <p:sldId id="309" r:id="rId12"/>
    <p:sldId id="310" r:id="rId13"/>
    <p:sldId id="311" r:id="rId14"/>
    <p:sldId id="319" r:id="rId15"/>
    <p:sldId id="288" r:id="rId16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7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96"/>
    <p:restoredTop sz="94694"/>
  </p:normalViewPr>
  <p:slideViewPr>
    <p:cSldViewPr snapToGrid="0" snapToObjects="1" showGuides="1">
      <p:cViewPr varScale="1">
        <p:scale>
          <a:sx n="56" d="100"/>
          <a:sy n="56" d="100"/>
        </p:scale>
        <p:origin x="606" y="96"/>
      </p:cViewPr>
      <p:guideLst>
        <p:guide orient="horz" pos="4320"/>
        <p:guide pos="77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B3F030-25FA-A543-BFBF-761F02F6E6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2FF95-1FB2-5A4B-9A6E-D20FD3F889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85D7A-CA92-5443-B821-58789E6DAB7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767D0-AB74-6C43-A583-F67E29C687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F816A-9129-4E41-8433-93B18C20AF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43503-5B3B-BC4A-B035-E280D658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40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09547-9C77-4C28-B8E6-E3CAD3F77AE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A7DE42-AD45-485E-B570-698264B1F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3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3266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964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7162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3661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0700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EE8EC-FE00-488A-4EA5-BE9CFEFDF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5AB52-3D46-BD44-EFC8-1598B479C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CCC2A-3B8A-ED90-0509-01221580C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71E65-8D97-918C-6EAE-DF74BF4C5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7091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3EE88-A202-3974-CE27-3C7132F9B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B1AF6-CB3A-3984-D2FB-AA068337F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8FF54-176D-A2E0-B3F3-ACBD28813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1D3B0-B91C-5886-726C-C2E035B65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8337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372A-32A8-D4AA-A31F-960DAF26D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28346-B779-C64A-473B-0BA80D23F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DB454-EDF7-CA7F-37BF-00E858CF1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20FA3-080A-DA8A-7FAB-ADBB5220F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8993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7878B-6661-B993-89AF-5AB4851E3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DBA749-90DC-2AF6-62E5-CAB809488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9EB0C-A079-A577-AE6A-DD93555F8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9D48D-5006-AC22-1513-4B44BFEC3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4561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6DF96-6ACD-6BB8-9AB7-A9AFDFAEF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88E1D-30E2-A6D6-2EC0-2D610A9B0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D91EA-C98E-8877-7973-5D2485F89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83C26-6C10-624A-57A3-A67A19A18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2488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5799" y="5078186"/>
            <a:ext cx="21210814" cy="293778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9600" cap="all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5799" y="8752114"/>
            <a:ext cx="21210814" cy="2269673"/>
          </a:xfrm>
        </p:spPr>
        <p:txBody>
          <a:bodyPr/>
          <a:lstStyle>
            <a:lvl1pPr marL="0" indent="0" algn="ctr">
              <a:buNone/>
              <a:defRPr sz="4800">
                <a:solidFill>
                  <a:schemeClr val="bg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50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7373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 userDrawn="1"/>
        </p:nvSpPr>
        <p:spPr>
          <a:xfrm>
            <a:off x="3962400" y="13598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97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291" y="3651249"/>
            <a:ext cx="10362526" cy="91013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3596" y="3651250"/>
            <a:ext cx="10362526" cy="7566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97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 cap="all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696232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748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799" y="5570555"/>
            <a:ext cx="21210814" cy="293778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8000" cap="all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1353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87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87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D4256BD-EBF6-F04C-B88C-52582AC3F228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4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98" r:id="rId2"/>
    <p:sldLayoutId id="2147483695" r:id="rId3"/>
    <p:sldLayoutId id="2147483676" r:id="rId4"/>
    <p:sldLayoutId id="2147483703" r:id="rId5"/>
    <p:sldLayoutId id="2147483704" r:id="rId6"/>
    <p:sldLayoutId id="2147483705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72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4F75-93C1-9D40-86A3-4C13A50E2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799" y="6216873"/>
            <a:ext cx="21210814" cy="2937782"/>
          </a:xfrm>
        </p:spPr>
        <p:txBody>
          <a:bodyPr/>
          <a:lstStyle/>
          <a:p>
            <a:r>
              <a:rPr lang="en-US" dirty="0"/>
              <a:t>Alberta Dental Practice – New EMR System</a:t>
            </a:r>
          </a:p>
        </p:txBody>
      </p:sp>
    </p:spTree>
    <p:extLst>
      <p:ext uri="{BB962C8B-B14F-4D97-AF65-F5344CB8AC3E}">
        <p14:creationId xmlns:p14="http://schemas.microsoft.com/office/powerpoint/2010/main" val="331007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716DB-20EF-4720-AF05-2E78E1D8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Alberta Dental Practice – New EMR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D7523-0641-483F-B656-334048DD6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dirty="0">
                <a:latin typeface="Arial"/>
                <a:cs typeface="Arial"/>
              </a:rPr>
              <a:t>Project: Implementation of a New Electronic Medical Record System for an Alberta Dental Clinic</a:t>
            </a:r>
          </a:p>
          <a:p>
            <a:pPr marL="456565" indent="-456565"/>
            <a:r>
              <a:rPr lang="en-US" dirty="0">
                <a:latin typeface="Arial"/>
                <a:cs typeface="Arial"/>
              </a:rPr>
              <a:t>Name: Sami Haji</a:t>
            </a:r>
          </a:p>
          <a:p>
            <a:pPr marL="456565" indent="-456565"/>
            <a:r>
              <a:rPr lang="en-US" dirty="0">
                <a:latin typeface="Arial"/>
                <a:cs typeface="Arial"/>
              </a:rPr>
              <a:t>Guidelines: AB – Provincial</a:t>
            </a:r>
          </a:p>
          <a:p>
            <a:pPr marL="1370919" lvl="1" indent="-45656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354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C6B3-539E-46A4-A0F2-7D0F2DDC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Project Description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F530B-C53F-4565-B019-D6C3821C6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1" y="3651249"/>
            <a:ext cx="21029831" cy="952406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6565" indent="-456565"/>
            <a:r>
              <a:rPr lang="en-US" dirty="0">
                <a:latin typeface="Arial"/>
                <a:cs typeface="Arial"/>
              </a:rPr>
              <a:t>A mid-sized Alberta dental practice is planning to </a:t>
            </a:r>
            <a:r>
              <a:rPr lang="en-US" dirty="0" err="1">
                <a:latin typeface="Arial"/>
                <a:cs typeface="Arial"/>
              </a:rPr>
              <a:t>imnplement</a:t>
            </a:r>
            <a:r>
              <a:rPr lang="en-US" dirty="0">
                <a:latin typeface="Arial"/>
                <a:cs typeface="Arial"/>
              </a:rPr>
              <a:t> a new Electronic Medical Record (EMR) system to streamline patient scheduling, treatment documentation, digital imaging, billing, and secure messaging.</a:t>
            </a:r>
          </a:p>
          <a:p>
            <a:pPr marL="456565" indent="-456565"/>
            <a:r>
              <a:rPr lang="en-US" dirty="0">
                <a:latin typeface="Arial"/>
                <a:cs typeface="Arial"/>
              </a:rPr>
              <a:t>The system will: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Replace physical records and an outdated scheduling tool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Integrate with Alberta </a:t>
            </a:r>
            <a:r>
              <a:rPr lang="en-US" dirty="0" err="1">
                <a:latin typeface="Arial"/>
                <a:cs typeface="Arial"/>
              </a:rPr>
              <a:t>NetCare</a:t>
            </a:r>
            <a:r>
              <a:rPr lang="en-US" dirty="0">
                <a:latin typeface="Arial"/>
                <a:cs typeface="Arial"/>
              </a:rPr>
              <a:t> for patient data lookup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Allow dentists, hygienists, and administrative staff to access charts securely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Enable remote access for dentists during emergency consultations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Store all data in a Canadian cloud environment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The dental practice serves approximately 8,000 active patients and employs 15 staff members</a:t>
            </a:r>
          </a:p>
          <a:p>
            <a:pPr marL="456565" indent="-456565"/>
            <a:endParaRPr lang="en-US" dirty="0">
              <a:latin typeface="Arial"/>
              <a:cs typeface="Arial"/>
            </a:endParaRPr>
          </a:p>
          <a:p>
            <a:pPr marL="456565" indent="-456565"/>
            <a:endParaRPr lang="en-US" dirty="0"/>
          </a:p>
          <a:p>
            <a:pPr marL="1370965" lvl="1" indent="-45656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99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24C0B-AED3-42C5-99A6-45C8E2493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Arial"/>
                <a:cs typeface="Arial"/>
              </a:rPr>
              <a:t>Compliance Teams</a:t>
            </a:r>
            <a:endParaRPr lang="en-C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2A4381-BEFA-C2AC-F230-28B0FCB9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548366"/>
              </p:ext>
            </p:extLst>
          </p:nvPr>
        </p:nvGraphicFramePr>
        <p:xfrm>
          <a:off x="1463040" y="3944347"/>
          <a:ext cx="19615868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7214">
                  <a:extLst>
                    <a:ext uri="{9D8B030D-6E8A-4147-A177-3AD203B41FA5}">
                      <a16:colId xmlns:a16="http://schemas.microsoft.com/office/drawing/2014/main" val="3094762877"/>
                    </a:ext>
                  </a:extLst>
                </a:gridCol>
                <a:gridCol w="14588654">
                  <a:extLst>
                    <a:ext uri="{9D8B030D-6E8A-4147-A177-3AD203B41FA5}">
                      <a16:colId xmlns:a16="http://schemas.microsoft.com/office/drawing/2014/main" val="376795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Responsibility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03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Clinic Privacy Officer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Oversees privacy compliance, prepares PIA, ensures adherence to HIA (Health Information Act)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 Manager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Ensures technical safeguards, implements system configuration, oversees vendors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68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EMR vendor Rep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Provides architectural documentation, system functionality, and security configuration details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94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Dental Practice Manager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Provides workflow insights, policies, and operational requirements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84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Lead Dentist (Custodian)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authority for health information decisions and signs PIA submission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341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Legal Advisor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Reviews agreements, privacy clauses, and data-sharing contracts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184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9355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F54E4-5D2F-4254-850F-C25A9EFF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Personal Information Involved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E988F-B513-40E2-92F3-DCE36C55E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96353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dirty="0">
                <a:latin typeface="Arial"/>
                <a:cs typeface="Arial"/>
              </a:rPr>
              <a:t>The EMR will store the following health and personal information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Full name, date of birth, gender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Address, phone number, email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Alberta Health care number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Medical and dental history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X-rays and digital imaging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Treatment plans and notes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Billing information (insurance, involves, payments)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Appointment history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Emergency contract details</a:t>
            </a:r>
          </a:p>
          <a:p>
            <a:pPr lvl="1"/>
            <a:r>
              <a:rPr lang="en-US" dirty="0">
                <a:latin typeface="Arial"/>
                <a:cs typeface="Arial"/>
              </a:rPr>
              <a:t>This includes identifiers, health diagnostics, financial data, and contact information, all regulated under Alberta’s HIA</a:t>
            </a:r>
            <a:endParaRPr lang="en-US" dirty="0"/>
          </a:p>
          <a:p>
            <a:pPr marL="456565" indent="-45656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759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C5AAB-B65C-4BD2-A727-A918C06DF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Requirement Documentation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5626B-B2F9-4F8B-B479-CC70E2134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456565" indent="-456565"/>
            <a:r>
              <a:rPr lang="en-US" sz="4000" dirty="0">
                <a:latin typeface="Arial"/>
                <a:cs typeface="Arial"/>
              </a:rPr>
              <a:t>Detailed system architecture diagram</a:t>
            </a:r>
          </a:p>
          <a:p>
            <a:pPr marL="456565" indent="-456565"/>
            <a:r>
              <a:rPr lang="en-US" sz="4000" dirty="0">
                <a:latin typeface="Arial"/>
                <a:cs typeface="Arial"/>
              </a:rPr>
              <a:t>Data flow diagrams (internal + external integrations)</a:t>
            </a:r>
          </a:p>
          <a:p>
            <a:pPr marL="456565" indent="-456565"/>
            <a:r>
              <a:rPr lang="en-US" sz="4000" dirty="0">
                <a:latin typeface="Arial"/>
                <a:cs typeface="Arial"/>
              </a:rPr>
              <a:t>Privacy and security policies (clinic + vendor)</a:t>
            </a:r>
          </a:p>
          <a:p>
            <a:pPr marL="456565" indent="-456565"/>
            <a:r>
              <a:rPr lang="en-US" sz="4000" dirty="0">
                <a:latin typeface="Arial"/>
                <a:cs typeface="Arial"/>
              </a:rPr>
              <a:t>Cloud hosting agreement with the EMR vendor</a:t>
            </a:r>
          </a:p>
          <a:p>
            <a:pPr marL="456565" indent="-456565"/>
            <a:r>
              <a:rPr lang="en-US" sz="4000" dirty="0">
                <a:latin typeface="Arial"/>
                <a:cs typeface="Arial"/>
              </a:rPr>
              <a:t>Access and authorization matrix</a:t>
            </a:r>
          </a:p>
          <a:p>
            <a:pPr marL="456565" indent="-456565"/>
            <a:r>
              <a:rPr lang="en-US" sz="4000" dirty="0">
                <a:latin typeface="Arial"/>
                <a:cs typeface="Arial"/>
              </a:rPr>
              <a:t>Information sharing agreement (</a:t>
            </a:r>
            <a:r>
              <a:rPr lang="en-US" sz="4000" dirty="0" err="1">
                <a:latin typeface="Arial"/>
                <a:cs typeface="Arial"/>
              </a:rPr>
              <a:t>e.g</a:t>
            </a:r>
            <a:r>
              <a:rPr lang="en-US" sz="4000" dirty="0">
                <a:latin typeface="Arial"/>
                <a:cs typeface="Arial"/>
              </a:rPr>
              <a:t> </a:t>
            </a:r>
            <a:r>
              <a:rPr lang="en-US" sz="4000" dirty="0" err="1">
                <a:latin typeface="Arial"/>
                <a:cs typeface="Arial"/>
              </a:rPr>
              <a:t>NetCare</a:t>
            </a:r>
            <a:r>
              <a:rPr lang="en-US" sz="4000" dirty="0">
                <a:latin typeface="Arial"/>
                <a:cs typeface="Arial"/>
              </a:rPr>
              <a:t>)</a:t>
            </a:r>
          </a:p>
          <a:p>
            <a:pPr marL="456565" indent="-456565"/>
            <a:r>
              <a:rPr lang="en-US" sz="4000" dirty="0">
                <a:latin typeface="Arial"/>
                <a:cs typeface="Arial"/>
              </a:rPr>
              <a:t>Retention and Destruction policy</a:t>
            </a:r>
          </a:p>
          <a:p>
            <a:pPr marL="456565" indent="-456565"/>
            <a:r>
              <a:rPr lang="en-US" sz="4000" dirty="0">
                <a:latin typeface="Arial"/>
                <a:cs typeface="Arial"/>
              </a:rPr>
              <a:t>Backup and disaster recovery plan</a:t>
            </a:r>
          </a:p>
          <a:p>
            <a:pPr marL="456565" indent="-456565"/>
            <a:r>
              <a:rPr lang="en-US" sz="4000" dirty="0">
                <a:latin typeface="Arial"/>
                <a:cs typeface="Arial"/>
              </a:rPr>
              <a:t>Threat and risk assessment (TRA)</a:t>
            </a:r>
          </a:p>
          <a:p>
            <a:pPr marL="456565" indent="-456565"/>
            <a:endParaRPr lang="en-US" sz="4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9789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00E4D-0DD6-5855-43A1-34C3442D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7556-1184-757C-C68C-C6513B3AD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Assessment Sections (AB PIA Requirements)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673D6-BE7F-381C-16FF-F0139FC5F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96851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6565" indent="-456565"/>
            <a:r>
              <a:rPr lang="en-US" sz="4800" dirty="0">
                <a:latin typeface="Arial"/>
                <a:cs typeface="Arial"/>
              </a:rPr>
              <a:t>Under Alberta Guidelines (HIA), the PIA includes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Project Overview and Purpose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Collection of Health Information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Use and Disclosure of Health Information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Security Safeguards (Administrative, physical, technical)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Access, correction &amp; patient rights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Retention and Destruction practices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Vendor and third-party management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Risk assessment Mitigation Measures</a:t>
            </a:r>
          </a:p>
        </p:txBody>
      </p:sp>
    </p:spTree>
    <p:extLst>
      <p:ext uri="{BB962C8B-B14F-4D97-AF65-F5344CB8AC3E}">
        <p14:creationId xmlns:p14="http://schemas.microsoft.com/office/powerpoint/2010/main" val="2023392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F950C-A62D-F36C-463D-6F04AB959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DD65-F2AD-F67E-20F7-AEBB7F368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Key Findings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E3A0B-035A-781F-5F1F-724F37045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96851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6565" indent="-456565"/>
            <a:r>
              <a:rPr lang="en-US" sz="4800" dirty="0">
                <a:latin typeface="Arial"/>
                <a:cs typeface="Arial"/>
              </a:rPr>
              <a:t>Collection of Health Information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Only necessary health information is collected to provide dental care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Intake forms collect past dental history and current medications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The EMR automatically logs all data entry sources</a:t>
            </a:r>
          </a:p>
          <a:p>
            <a:pPr marL="456565" indent="-456565"/>
            <a:r>
              <a:rPr lang="en-US" sz="4800" dirty="0">
                <a:latin typeface="Arial"/>
                <a:cs typeface="Arial"/>
              </a:rPr>
              <a:t>Use &amp; Disclosure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Data is used solely for care, billing, and continuity of patient service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Disclosure may occur to insurers and </a:t>
            </a:r>
            <a:r>
              <a:rPr lang="en-US" sz="4000" dirty="0" err="1">
                <a:latin typeface="Arial"/>
                <a:cs typeface="Arial"/>
              </a:rPr>
              <a:t>NetCare</a:t>
            </a:r>
            <a:r>
              <a:rPr lang="en-US" sz="4000" dirty="0">
                <a:latin typeface="Arial"/>
                <a:cs typeface="Arial"/>
              </a:rPr>
              <a:t> under HIA rules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Remote access is restricted to license dentists only</a:t>
            </a:r>
          </a:p>
          <a:p>
            <a:pPr marL="456565" indent="-456565"/>
            <a:r>
              <a:rPr lang="en-US" sz="4800" dirty="0">
                <a:latin typeface="Arial"/>
                <a:cs typeface="Arial"/>
              </a:rPr>
              <a:t>Security Safeguards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System uses MFA for all users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Data encrypted in transit (TLS 1.2+) and at rest (AES-256)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Vendor servers located in Canada to comply with HIA</a:t>
            </a:r>
          </a:p>
          <a:p>
            <a:pPr marL="456565" indent="-456565"/>
            <a:r>
              <a:rPr lang="en-US" sz="4800" dirty="0">
                <a:latin typeface="Arial"/>
                <a:cs typeface="Arial"/>
              </a:rPr>
              <a:t>Retention &amp; Destruction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Dental records retained for 10 years after last visit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Secure deletion process verified with vendor documentation</a:t>
            </a:r>
          </a:p>
          <a:p>
            <a:pPr marL="456565" indent="-456565"/>
            <a:r>
              <a:rPr lang="en-US" sz="4800" dirty="0">
                <a:latin typeface="Arial"/>
                <a:cs typeface="Arial"/>
              </a:rPr>
              <a:t>Vendor Risk</a:t>
            </a:r>
          </a:p>
          <a:p>
            <a:pPr marL="1370919" lvl="1" indent="-456565"/>
            <a:r>
              <a:rPr lang="en-US" sz="3200" dirty="0">
                <a:latin typeface="Arial"/>
                <a:cs typeface="Arial"/>
              </a:rPr>
              <a:t>Vendor uses shared-responsibility cloud security model</a:t>
            </a:r>
          </a:p>
          <a:p>
            <a:pPr marL="1370919" lvl="1" indent="-456565"/>
            <a:r>
              <a:rPr lang="en-US" sz="3200" dirty="0">
                <a:latin typeface="Arial"/>
                <a:cs typeface="Arial"/>
              </a:rPr>
              <a:t>SOC 2 Type 2 certification provided</a:t>
            </a:r>
          </a:p>
          <a:p>
            <a:pPr marL="1370919" lvl="1" indent="-456565"/>
            <a:r>
              <a:rPr lang="en-US" sz="3200" dirty="0">
                <a:latin typeface="Arial"/>
                <a:cs typeface="Arial"/>
              </a:rPr>
              <a:t>Incident response plan outlines reporting within 24 hours</a:t>
            </a:r>
          </a:p>
        </p:txBody>
      </p:sp>
    </p:spTree>
    <p:extLst>
      <p:ext uri="{BB962C8B-B14F-4D97-AF65-F5344CB8AC3E}">
        <p14:creationId xmlns:p14="http://schemas.microsoft.com/office/powerpoint/2010/main" val="1216391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CD5D2-5AB1-D74A-FEBB-C3F6E13C1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4DCBD-9F8C-3CC7-9022-C1C82E375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Privacy Risk Matrix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20A1F4-77AF-2E64-7160-5D78B9641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688855"/>
              </p:ext>
            </p:extLst>
          </p:nvPr>
        </p:nvGraphicFramePr>
        <p:xfrm>
          <a:off x="1463040" y="3944346"/>
          <a:ext cx="19615868" cy="7282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7214">
                  <a:extLst>
                    <a:ext uri="{9D8B030D-6E8A-4147-A177-3AD203B41FA5}">
                      <a16:colId xmlns:a16="http://schemas.microsoft.com/office/drawing/2014/main" val="3094762877"/>
                    </a:ext>
                  </a:extLst>
                </a:gridCol>
                <a:gridCol w="14588654">
                  <a:extLst>
                    <a:ext uri="{9D8B030D-6E8A-4147-A177-3AD203B41FA5}">
                      <a16:colId xmlns:a16="http://schemas.microsoft.com/office/drawing/2014/main" val="376795919"/>
                    </a:ext>
                  </a:extLst>
                </a:gridCol>
              </a:tblGrid>
              <a:tr h="849671">
                <a:tc>
                  <a:txBody>
                    <a:bodyPr/>
                    <a:lstStyle/>
                    <a:p>
                      <a:r>
                        <a:rPr lang="en-US" dirty="0"/>
                        <a:t>Risk 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03479"/>
                  </a:ext>
                </a:extLst>
              </a:tr>
              <a:tr h="1577961">
                <a:tc>
                  <a:txBody>
                    <a:bodyPr/>
                    <a:lstStyle/>
                    <a:p>
                      <a:r>
                        <a:rPr lang="en-US" dirty="0"/>
                        <a:t>Unauthorized Access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 user passwords or improper role assignment may allow access to patient records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163965"/>
                  </a:ext>
                </a:extLst>
              </a:tr>
              <a:tr h="1577961">
                <a:tc>
                  <a:txBody>
                    <a:bodyPr/>
                    <a:lstStyle/>
                    <a:p>
                      <a:r>
                        <a:rPr lang="en-US" dirty="0"/>
                        <a:t>Cloud Hosting Vulnerabilities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Breach of vendor hosting platform cloud expose health information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68572"/>
                  </a:ext>
                </a:extLst>
              </a:tr>
              <a:tr h="1577961">
                <a:tc>
                  <a:txBody>
                    <a:bodyPr/>
                    <a:lstStyle/>
                    <a:p>
                      <a:r>
                        <a:rPr lang="en-US" dirty="0"/>
                        <a:t>Improper disposal of records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Staff may not follow deletion procedures consistently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947018"/>
                  </a:ext>
                </a:extLst>
              </a:tr>
              <a:tr h="849671">
                <a:tc>
                  <a:txBody>
                    <a:bodyPr/>
                    <a:lstStyle/>
                    <a:p>
                      <a:r>
                        <a:rPr lang="en-US" dirty="0"/>
                        <a:t>Remote Access Risk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Remote logins increase exposure if MFA fails or is bypassed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841347"/>
                  </a:ext>
                </a:extLst>
              </a:tr>
              <a:tr h="849671">
                <a:tc>
                  <a:txBody>
                    <a:bodyPr/>
                    <a:lstStyle/>
                    <a:p>
                      <a:r>
                        <a:rPr lang="en-US" dirty="0"/>
                        <a:t>Third-party data sharing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Insurer or </a:t>
                      </a:r>
                      <a:r>
                        <a:rPr lang="en-US" dirty="0" err="1"/>
                        <a:t>NetCare</a:t>
                      </a:r>
                      <a:r>
                        <a:rPr lang="en-US" dirty="0"/>
                        <a:t> integrations may introduce additional privacy risks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341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6491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23D10-3212-9852-BB9A-D7C6B54B2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86DFC-4E7B-DF20-1BBD-555883E80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291" y="730251"/>
            <a:ext cx="21517664" cy="2651126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Mitigation Strategies - 1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CD238-D9E0-E436-786C-25B062B18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96851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6565" indent="-456565"/>
            <a:r>
              <a:rPr lang="en-US" sz="4800" dirty="0">
                <a:latin typeface="Arial"/>
                <a:cs typeface="Arial"/>
              </a:rPr>
              <a:t>Risk: Unauthorized Access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Implement strict role-based access control (RBAC)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Enforce MFA and minimum password standards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Provide quarterly privacy training</a:t>
            </a:r>
          </a:p>
          <a:p>
            <a:pPr marL="456565" indent="-456565"/>
            <a:r>
              <a:rPr lang="en-US" sz="4800" dirty="0">
                <a:latin typeface="Arial"/>
                <a:cs typeface="Arial"/>
              </a:rPr>
              <a:t>Risk: Cloud Hosting Vulnerabilities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Ensure vendor maintains Canadian data residency and SOC 2 compliance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Require annual security audit report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Encrypt all backups using AES-256</a:t>
            </a:r>
          </a:p>
          <a:p>
            <a:pPr marL="456565" indent="-456565"/>
            <a:r>
              <a:rPr lang="en-US" sz="4800" dirty="0">
                <a:latin typeface="Arial"/>
                <a:cs typeface="Arial"/>
              </a:rPr>
              <a:t>Risk: Improper Disposal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Automated deletion workflow tied to retention rules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Staff training on retention and destruction</a:t>
            </a:r>
          </a:p>
        </p:txBody>
      </p:sp>
    </p:spTree>
    <p:extLst>
      <p:ext uri="{BB962C8B-B14F-4D97-AF65-F5344CB8AC3E}">
        <p14:creationId xmlns:p14="http://schemas.microsoft.com/office/powerpoint/2010/main" val="1451446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B4BC0-E377-30AB-8387-2CD61B2D7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1D514-1F0E-E4CF-2188-2264AEFA6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291" y="730251"/>
            <a:ext cx="21517664" cy="2651126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Mitigation Strategies - 2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773C6-AD03-379D-641B-8532951A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96851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6565" indent="-456565"/>
            <a:r>
              <a:rPr lang="en-US" sz="4800" dirty="0">
                <a:latin typeface="Arial"/>
                <a:cs typeface="Arial"/>
              </a:rPr>
              <a:t>Risk: Remote Access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Require VPN with MFA for off-site login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Restrict remote access to dentists only</a:t>
            </a:r>
          </a:p>
          <a:p>
            <a:pPr marL="456565" indent="-456565"/>
            <a:r>
              <a:rPr lang="en-US" sz="4800" dirty="0">
                <a:latin typeface="Arial"/>
                <a:cs typeface="Arial"/>
              </a:rPr>
              <a:t>Risk: Third-Party Data Sharing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Establish formal information-sharing agreements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Limit disclosure to minimum necessary information</a:t>
            </a:r>
          </a:p>
        </p:txBody>
      </p:sp>
    </p:spTree>
    <p:extLst>
      <p:ext uri="{BB962C8B-B14F-4D97-AF65-F5344CB8AC3E}">
        <p14:creationId xmlns:p14="http://schemas.microsoft.com/office/powerpoint/2010/main" val="695581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C861-D5BD-C84D-939D-4E463845F8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MS Mincho" panose="02020609040205080304" pitchFamily="49" charset="-128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38095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3E87"/>
      </a:dk1>
      <a:lt1>
        <a:srgbClr val="00A0DE"/>
      </a:lt1>
      <a:dk2>
        <a:srgbClr val="005BB9"/>
      </a:dk2>
      <a:lt2>
        <a:srgbClr val="FFFEFE"/>
      </a:lt2>
      <a:accent1>
        <a:srgbClr val="000000"/>
      </a:accent1>
      <a:accent2>
        <a:srgbClr val="91C432"/>
      </a:accent2>
      <a:accent3>
        <a:srgbClr val="693D98"/>
      </a:accent3>
      <a:accent4>
        <a:srgbClr val="C83695"/>
      </a:accent4>
      <a:accent5>
        <a:srgbClr val="F6A71C"/>
      </a:accent5>
      <a:accent6>
        <a:srgbClr val="00BCF2"/>
      </a:accent6>
      <a:hlink>
        <a:srgbClr val="00BCF2"/>
      </a:hlink>
      <a:folHlink>
        <a:srgbClr val="004276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template_1920x1080 (1)" id="{F71D3D19-7CD7-B94E-A3C8-BCCF0142B891}" vid="{B5DF1F6B-D839-884E-B2BC-0C3F7C5039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45CBA45D66514C94021EECD50E73DD" ma:contentTypeVersion="11" ma:contentTypeDescription="Create a new document." ma:contentTypeScope="" ma:versionID="2d013ea80ab1575133f1f60f7e18d5a6">
  <xsd:schema xmlns:xsd="http://www.w3.org/2001/XMLSchema" xmlns:xs="http://www.w3.org/2001/XMLSchema" xmlns:p="http://schemas.microsoft.com/office/2006/metadata/properties" xmlns:ns2="d7e6c23a-007f-45a1-9a2e-6f9c782b9ab2" xmlns:ns3="96a51d45-16b5-40df-b25b-97f43ab630b8" targetNamespace="http://schemas.microsoft.com/office/2006/metadata/properties" ma:root="true" ma:fieldsID="9aa45b330ff9651f40cc071682040c46" ns2:_="" ns3:_="">
    <xsd:import namespace="d7e6c23a-007f-45a1-9a2e-6f9c782b9ab2"/>
    <xsd:import namespace="96a51d45-16b5-40df-b25b-97f43ab630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e6c23a-007f-45a1-9a2e-6f9c782b9a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1d45-16b5-40df-b25b-97f43ab630b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56E63F-A8C0-4586-AFCD-69964B5AAAEB}">
  <ds:schemaRefs>
    <ds:schemaRef ds:uri="d7e6c23a-007f-45a1-9a2e-6f9c782b9ab2"/>
    <ds:schemaRef ds:uri="http://purl.org/dc/elements/1.1/"/>
    <ds:schemaRef ds:uri="http://schemas.openxmlformats.org/package/2006/metadata/core-properties"/>
    <ds:schemaRef ds:uri="http://purl.org/dc/dcmitype/"/>
    <ds:schemaRef ds:uri="96a51d45-16b5-40df-b25b-97f43ab630b8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77E4845-7472-4B0C-A0C7-BE9A32CE6D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FE027C-BBA7-4FA5-BE28-F06A5156BE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e6c23a-007f-45a1-9a2e-6f9c782b9ab2"/>
    <ds:schemaRef ds:uri="96a51d45-16b5-40df-b25b-97f43ab630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9120</TotalTime>
  <Words>740</Words>
  <Application>Microsoft Office PowerPoint</Application>
  <PresentationFormat>Custom</PresentationFormat>
  <Paragraphs>125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MS Mincho</vt:lpstr>
      <vt:lpstr>Arial</vt:lpstr>
      <vt:lpstr>Calibri</vt:lpstr>
      <vt:lpstr>Office Theme</vt:lpstr>
      <vt:lpstr>Alberta Dental Practice – New EMR System</vt:lpstr>
      <vt:lpstr>Alberta Dental Practice – New EMR System</vt:lpstr>
      <vt:lpstr>Project Description</vt:lpstr>
      <vt:lpstr>Compliance Teams</vt:lpstr>
      <vt:lpstr>Personal Information Involved</vt:lpstr>
      <vt:lpstr>Requirement Documentation</vt:lpstr>
      <vt:lpstr>Assessment Sections (AB PIA Requirements)</vt:lpstr>
      <vt:lpstr>Key Findings</vt:lpstr>
      <vt:lpstr>Privacy Risk Matrix</vt:lpstr>
      <vt:lpstr>Mitigation Strategies - 1</vt:lpstr>
      <vt:lpstr>Mitigation Strategies - 2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Kendra Parker</dc:creator>
  <cp:lastModifiedBy>Sami Haji</cp:lastModifiedBy>
  <cp:revision>50</cp:revision>
  <cp:lastPrinted>2019-08-01T00:13:24Z</cp:lastPrinted>
  <dcterms:created xsi:type="dcterms:W3CDTF">2020-02-13T04:19:29Z</dcterms:created>
  <dcterms:modified xsi:type="dcterms:W3CDTF">2025-12-03T01:29:04Z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 - Department">
    <vt:lpwstr>197;#Brand|943f07b5-0abf-4eba-9a92-bb911ec4797c</vt:lpwstr>
  </property>
  <property fmtid="{D5CDD505-2E9C-101B-9397-08002B2CF9AE}" pid="3" name="Topic">
    <vt:lpwstr/>
  </property>
  <property fmtid="{D5CDD505-2E9C-101B-9397-08002B2CF9AE}" pid="4" name="Building">
    <vt:lpwstr/>
  </property>
  <property fmtid="{D5CDD505-2E9C-101B-9397-08002B2CF9AE}" pid="5" name="ContentTypeId">
    <vt:lpwstr>0x0101006845CBA45D66514C94021EECD50E73DD</vt:lpwstr>
  </property>
  <property fmtid="{D5CDD505-2E9C-101B-9397-08002B2CF9AE}" pid="6" name="Target Audience">
    <vt:lpwstr/>
  </property>
  <property fmtid="{D5CDD505-2E9C-101B-9397-08002B2CF9AE}" pid="7" name="_dlc_DocIdItemGuid">
    <vt:lpwstr>a4d56298-c866-45f0-a3db-be918181ebef</vt:lpwstr>
  </property>
  <property fmtid="{D5CDD505-2E9C-101B-9397-08002B2CF9AE}" pid="8" name="PublishedDocument.Location">
    <vt:lpwstr/>
  </property>
  <property fmtid="{D5CDD505-2E9C-101B-9397-08002B2CF9AE}" pid="9" name="Program">
    <vt:lpwstr/>
  </property>
  <property fmtid="{D5CDD505-2E9C-101B-9397-08002B2CF9AE}" pid="10" name="MSIP_Label_10877899-02b0-462c-b2a9-b7d15c4f96fe_Enabled">
    <vt:lpwstr>true</vt:lpwstr>
  </property>
  <property fmtid="{D5CDD505-2E9C-101B-9397-08002B2CF9AE}" pid="11" name="MSIP_Label_10877899-02b0-462c-b2a9-b7d15c4f96fe_SetDate">
    <vt:lpwstr>2025-10-23T18:01:46Z</vt:lpwstr>
  </property>
  <property fmtid="{D5CDD505-2E9C-101B-9397-08002B2CF9AE}" pid="12" name="MSIP_Label_10877899-02b0-462c-b2a9-b7d15c4f96fe_Method">
    <vt:lpwstr>Standard</vt:lpwstr>
  </property>
  <property fmtid="{D5CDD505-2E9C-101B-9397-08002B2CF9AE}" pid="13" name="MSIP_Label_10877899-02b0-462c-b2a9-b7d15c4f96fe_Name">
    <vt:lpwstr>Protected [Protected A]</vt:lpwstr>
  </property>
  <property fmtid="{D5CDD505-2E9C-101B-9397-08002B2CF9AE}" pid="14" name="MSIP_Label_10877899-02b0-462c-b2a9-b7d15c4f96fe_SiteId">
    <vt:lpwstr>5c98fb47-d3b9-4649-9d94-f88cbdd9729c</vt:lpwstr>
  </property>
  <property fmtid="{D5CDD505-2E9C-101B-9397-08002B2CF9AE}" pid="15" name="MSIP_Label_10877899-02b0-462c-b2a9-b7d15c4f96fe_ActionId">
    <vt:lpwstr>e61c6265-a424-4c8c-8c1e-19c7d307c709</vt:lpwstr>
  </property>
  <property fmtid="{D5CDD505-2E9C-101B-9397-08002B2CF9AE}" pid="16" name="MSIP_Label_10877899-02b0-462c-b2a9-b7d15c4f96fe_ContentBits">
    <vt:lpwstr>0</vt:lpwstr>
  </property>
  <property fmtid="{D5CDD505-2E9C-101B-9397-08002B2CF9AE}" pid="17" name="MSIP_Label_10877899-02b0-462c-b2a9-b7d15c4f96fe_Tag">
    <vt:lpwstr>10, 3, 0, 1</vt:lpwstr>
  </property>
</Properties>
</file>