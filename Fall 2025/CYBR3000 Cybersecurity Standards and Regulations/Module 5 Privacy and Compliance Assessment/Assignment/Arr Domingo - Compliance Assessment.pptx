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4"/>
  </p:sldMasterIdLst>
  <p:notesMasterIdLst>
    <p:notesMasterId r:id="rId17"/>
  </p:notesMasterIdLst>
  <p:handoutMasterIdLst>
    <p:handoutMasterId r:id="rId18"/>
  </p:handoutMasterIdLst>
  <p:sldIdLst>
    <p:sldId id="278" r:id="rId5"/>
    <p:sldId id="280" r:id="rId6"/>
    <p:sldId id="281" r:id="rId7"/>
    <p:sldId id="282" r:id="rId8"/>
    <p:sldId id="283" r:id="rId9"/>
    <p:sldId id="284" r:id="rId10"/>
    <p:sldId id="308" r:id="rId11"/>
    <p:sldId id="309" r:id="rId12"/>
    <p:sldId id="310" r:id="rId13"/>
    <p:sldId id="311" r:id="rId14"/>
    <p:sldId id="319" r:id="rId15"/>
    <p:sldId id="288" r:id="rId16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6"/>
    <p:restoredTop sz="94694"/>
  </p:normalViewPr>
  <p:slideViewPr>
    <p:cSldViewPr snapToGrid="0" snapToObjects="1" showGuides="1">
      <p:cViewPr varScale="1">
        <p:scale>
          <a:sx n="27" d="100"/>
          <a:sy n="27" d="100"/>
        </p:scale>
        <p:origin x="168" y="1350"/>
      </p:cViewPr>
      <p:guideLst>
        <p:guide orient="horz" pos="4320"/>
        <p:guide pos="7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09547-9C77-4C28-B8E6-E3CAD3F77A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DE42-AD45-485E-B570-698264B1F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266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6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716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66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700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E8EC-FE00-488A-4EA5-BE9CFEFD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5AB52-3D46-BD44-EFC8-1598B479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CCC2A-3B8A-ED90-0509-01221580C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71E65-8D97-918C-6EAE-DF74BF4C5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091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EE88-A202-3974-CE27-3C7132F9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B1AF6-CB3A-3984-D2FB-AA068337F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8FF54-176D-A2E0-B3F3-ACBD28813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1D3B0-B91C-5886-726C-C2E035B6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337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372A-32A8-D4AA-A31F-960DAF26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28346-B779-C64A-473B-0BA80D23F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DB454-EDF7-CA7F-37BF-00E858CF1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0FA3-080A-DA8A-7FAB-ADBB5220F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8993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878B-6661-B993-89AF-5AB4851E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BA749-90DC-2AF6-62E5-CAB809488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9EB0C-A079-A577-AE6A-DD93555F8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9D48D-5006-AC22-1513-4B44BFEC3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561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DF96-6ACD-6BB8-9AB7-A9AFDFAE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88E1D-30E2-A6D6-2EC0-2D610A9B0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D91EA-C98E-8877-7973-5D2485F89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3C26-6C10-624A-57A3-A67A19A18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58A3D-2A08-4FFD-A95B-9CD6A1FC3BE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488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6933"/>
            <a:ext cx="24382413" cy="13732934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3938" y="4809068"/>
            <a:ext cx="15532861" cy="3292604"/>
          </a:xfrm>
        </p:spPr>
        <p:txBody>
          <a:bodyPr anchor="b">
            <a:noAutofit/>
          </a:bodyPr>
          <a:lstStyle>
            <a:lvl1pPr algn="r">
              <a:defRPr sz="107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3938" y="8101667"/>
            <a:ext cx="15532861" cy="219379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4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6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9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2" y="5401735"/>
            <a:ext cx="17192217" cy="3653162"/>
          </a:xfrm>
        </p:spPr>
        <p:txBody>
          <a:bodyPr anchor="b"/>
          <a:lstStyle>
            <a:lvl1pPr algn="l">
              <a:defRPr sz="8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9054896"/>
            <a:ext cx="17192217" cy="1720800"/>
          </a:xfrm>
        </p:spPr>
        <p:txBody>
          <a:bodyPr anchor="t"/>
          <a:lstStyle>
            <a:lvl1pPr marL="0" indent="0" algn="l">
              <a:buNone/>
              <a:defRPr sz="4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2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4581" y="4321178"/>
            <a:ext cx="8367525" cy="7761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9278" y="4321179"/>
            <a:ext cx="8367523" cy="77615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4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1403" y="4321966"/>
            <a:ext cx="8370701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1403" y="5474491"/>
            <a:ext cx="8370701" cy="66082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6104" y="4321966"/>
            <a:ext cx="8370691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/>
            </a:lvl1pPr>
            <a:lvl2pPr marL="914354" indent="0">
              <a:buNone/>
              <a:defRPr sz="4000" b="1"/>
            </a:lvl2pPr>
            <a:lvl3pPr marL="1828709" indent="0">
              <a:buNone/>
              <a:defRPr sz="3600" b="1"/>
            </a:lvl3pPr>
            <a:lvl4pPr marL="2743063" indent="0">
              <a:buNone/>
              <a:defRPr sz="3200" b="1"/>
            </a:lvl4pPr>
            <a:lvl5pPr marL="3657417" indent="0">
              <a:buNone/>
              <a:defRPr sz="3200" b="1"/>
            </a:lvl5pPr>
            <a:lvl6pPr marL="4571771" indent="0">
              <a:buNone/>
              <a:defRPr sz="3200" b="1"/>
            </a:lvl6pPr>
            <a:lvl7pPr marL="5486126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4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6107" y="5474491"/>
            <a:ext cx="8370689" cy="66082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8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0" y="1219200"/>
            <a:ext cx="17192217" cy="264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1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0" y="2997208"/>
            <a:ext cx="7708554" cy="255693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0304" y="1029849"/>
            <a:ext cx="9026494" cy="110528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580" y="5554139"/>
            <a:ext cx="7708554" cy="5168898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914080" indent="0">
              <a:buNone/>
              <a:defRPr sz="2800"/>
            </a:lvl2pPr>
            <a:lvl3pPr marL="1828161" indent="0">
              <a:buNone/>
              <a:defRPr sz="2400"/>
            </a:lvl3pPr>
            <a:lvl4pPr marL="2742241" indent="0">
              <a:buNone/>
              <a:defRPr sz="2000"/>
            </a:lvl4pPr>
            <a:lvl5pPr marL="3656319" indent="0">
              <a:buNone/>
              <a:defRPr sz="2000"/>
            </a:lvl5pPr>
            <a:lvl6pPr marL="4570399" indent="0">
              <a:buNone/>
              <a:defRPr sz="2000"/>
            </a:lvl6pPr>
            <a:lvl7pPr marL="5484480" indent="0">
              <a:buNone/>
              <a:defRPr sz="2000"/>
            </a:lvl7pPr>
            <a:lvl8pPr marL="6398560" indent="0">
              <a:buNone/>
              <a:defRPr sz="2000"/>
            </a:lvl8pPr>
            <a:lvl9pPr marL="731264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1" y="9601200"/>
            <a:ext cx="17192215" cy="1133476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54580" y="1219200"/>
            <a:ext cx="17192217" cy="7691436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354" indent="0">
              <a:buNone/>
              <a:defRPr sz="3200"/>
            </a:lvl2pPr>
            <a:lvl3pPr marL="1828709" indent="0">
              <a:buNone/>
              <a:defRPr sz="3200"/>
            </a:lvl3pPr>
            <a:lvl4pPr marL="2743063" indent="0">
              <a:buNone/>
              <a:defRPr sz="3200"/>
            </a:lvl4pPr>
            <a:lvl5pPr marL="3657417" indent="0">
              <a:buNone/>
              <a:defRPr sz="3200"/>
            </a:lvl5pPr>
            <a:lvl6pPr marL="4571771" indent="0">
              <a:buNone/>
              <a:defRPr sz="3200"/>
            </a:lvl6pPr>
            <a:lvl7pPr marL="5486126" indent="0">
              <a:buNone/>
              <a:defRPr sz="3200"/>
            </a:lvl7pPr>
            <a:lvl8pPr marL="6400480" indent="0">
              <a:buNone/>
              <a:defRPr sz="3200"/>
            </a:lvl8pPr>
            <a:lvl9pPr marL="7314834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581" y="10734676"/>
            <a:ext cx="17192215" cy="13480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914354" indent="0">
              <a:buNone/>
              <a:defRPr sz="2400"/>
            </a:lvl2pPr>
            <a:lvl3pPr marL="1828709" indent="0">
              <a:buNone/>
              <a:defRPr sz="2000"/>
            </a:lvl3pPr>
            <a:lvl4pPr marL="2743063" indent="0">
              <a:buNone/>
              <a:defRPr sz="1800"/>
            </a:lvl4pPr>
            <a:lvl5pPr marL="3657417" indent="0">
              <a:buNone/>
              <a:defRPr sz="1800"/>
            </a:lvl5pPr>
            <a:lvl6pPr marL="4571771" indent="0">
              <a:buNone/>
              <a:defRPr sz="1800"/>
            </a:lvl6pPr>
            <a:lvl7pPr marL="5486126" indent="0">
              <a:buNone/>
              <a:defRPr sz="1800"/>
            </a:lvl7pPr>
            <a:lvl8pPr marL="6400480" indent="0">
              <a:buNone/>
              <a:defRPr sz="1800"/>
            </a:lvl8pPr>
            <a:lvl9pPr marL="7314834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5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2" y="1219200"/>
            <a:ext cx="17192217" cy="6807200"/>
          </a:xfrm>
        </p:spPr>
        <p:txBody>
          <a:bodyPr anchor="ctr">
            <a:normAutofit/>
          </a:bodyPr>
          <a:lstStyle>
            <a:lvl1pPr algn="l">
              <a:defRPr sz="8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8940800"/>
            <a:ext cx="17192217" cy="314192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9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547" y="1219200"/>
            <a:ext cx="16187214" cy="6045200"/>
          </a:xfrm>
        </p:spPr>
        <p:txBody>
          <a:bodyPr anchor="ctr">
            <a:normAutofit/>
          </a:bodyPr>
          <a:lstStyle>
            <a:lvl1pPr algn="l">
              <a:defRPr sz="8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32100" y="7264400"/>
            <a:ext cx="14448108" cy="762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54" indent="0">
              <a:buFontTx/>
              <a:buNone/>
              <a:defRPr/>
            </a:lvl2pPr>
            <a:lvl3pPr marL="1828709" indent="0">
              <a:buFontTx/>
              <a:buNone/>
              <a:defRPr/>
            </a:lvl3pPr>
            <a:lvl4pPr marL="2743063" indent="0">
              <a:buFontTx/>
              <a:buNone/>
              <a:defRPr/>
            </a:lvl4pPr>
            <a:lvl5pPr marL="365741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8940800"/>
            <a:ext cx="17192217" cy="3141924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83669" y="1580756"/>
            <a:ext cx="1219121" cy="1169552"/>
          </a:xfrm>
          <a:prstGeom prst="rect">
            <a:avLst/>
          </a:prstGeom>
        </p:spPr>
        <p:txBody>
          <a:bodyPr vert="horz" lIns="182868" tIns="91434" rIns="182868" bIns="91434" rtlCol="0" anchor="ctr">
            <a:noAutofit/>
          </a:bodyPr>
          <a:lstStyle/>
          <a:p>
            <a:pPr lvl="0"/>
            <a:r>
              <a:rPr lang="en-US" sz="1599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84864" y="5773112"/>
            <a:ext cx="1219121" cy="1169552"/>
          </a:xfrm>
          <a:prstGeom prst="rect">
            <a:avLst/>
          </a:prstGeom>
        </p:spPr>
        <p:txBody>
          <a:bodyPr vert="horz" lIns="182868" tIns="91434" rIns="182868" bIns="91434" rtlCol="0" anchor="ctr">
            <a:noAutofit/>
          </a:bodyPr>
          <a:lstStyle/>
          <a:p>
            <a:pPr lvl="0"/>
            <a:r>
              <a:rPr lang="en-US" sz="1599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6290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582" y="3863976"/>
            <a:ext cx="17192217" cy="5190920"/>
          </a:xfrm>
        </p:spPr>
        <p:txBody>
          <a:bodyPr anchor="b">
            <a:normAutofit/>
          </a:bodyPr>
          <a:lstStyle>
            <a:lvl1pPr algn="l">
              <a:defRPr sz="8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9054896"/>
            <a:ext cx="17192217" cy="3027828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02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547" y="1219200"/>
            <a:ext cx="16187214" cy="6045200"/>
          </a:xfrm>
        </p:spPr>
        <p:txBody>
          <a:bodyPr anchor="ctr">
            <a:normAutofit/>
          </a:bodyPr>
          <a:lstStyle>
            <a:lvl1pPr algn="l">
              <a:defRPr sz="8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54577" y="8026400"/>
            <a:ext cx="17192219" cy="102849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354" indent="0">
              <a:buFontTx/>
              <a:buNone/>
              <a:defRPr/>
            </a:lvl2pPr>
            <a:lvl3pPr marL="1828709" indent="0">
              <a:buFontTx/>
              <a:buNone/>
              <a:defRPr/>
            </a:lvl3pPr>
            <a:lvl4pPr marL="2743063" indent="0">
              <a:buFontTx/>
              <a:buNone/>
              <a:defRPr/>
            </a:lvl4pPr>
            <a:lvl5pPr marL="365741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9054896"/>
            <a:ext cx="17192217" cy="3027828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83669" y="1580756"/>
            <a:ext cx="1219121" cy="1169552"/>
          </a:xfrm>
          <a:prstGeom prst="rect">
            <a:avLst/>
          </a:prstGeom>
        </p:spPr>
        <p:txBody>
          <a:bodyPr vert="horz" lIns="182868" tIns="91434" rIns="182868" bIns="91434" rtlCol="0" anchor="ctr">
            <a:noAutofit/>
          </a:bodyPr>
          <a:lstStyle/>
          <a:p>
            <a:pPr lvl="0"/>
            <a:r>
              <a:rPr lang="en-US" sz="1599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84864" y="5773112"/>
            <a:ext cx="1219121" cy="1169552"/>
          </a:xfrm>
          <a:prstGeom prst="rect">
            <a:avLst/>
          </a:prstGeom>
        </p:spPr>
        <p:txBody>
          <a:bodyPr vert="horz" lIns="182868" tIns="91434" rIns="182868" bIns="91434" rtlCol="0" anchor="ctr">
            <a:noAutofit/>
          </a:bodyPr>
          <a:lstStyle/>
          <a:p>
            <a:pPr lvl="0"/>
            <a:r>
              <a:rPr lang="en-US" sz="1599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2357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10" y="1219200"/>
            <a:ext cx="17175288" cy="6045200"/>
          </a:xfrm>
        </p:spPr>
        <p:txBody>
          <a:bodyPr anchor="ctr">
            <a:normAutofit/>
          </a:bodyPr>
          <a:lstStyle>
            <a:lvl1pPr algn="l">
              <a:defRPr sz="8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54577" y="8026400"/>
            <a:ext cx="17192219" cy="102849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914354" indent="0">
              <a:buFontTx/>
              <a:buNone/>
              <a:defRPr/>
            </a:lvl2pPr>
            <a:lvl3pPr marL="1828709" indent="0">
              <a:buFontTx/>
              <a:buNone/>
              <a:defRPr/>
            </a:lvl3pPr>
            <a:lvl4pPr marL="2743063" indent="0">
              <a:buFontTx/>
              <a:buNone/>
              <a:defRPr/>
            </a:lvl4pPr>
            <a:lvl5pPr marL="3657417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2" y="9054896"/>
            <a:ext cx="17192217" cy="3027828"/>
          </a:xfrm>
        </p:spPr>
        <p:txBody>
          <a:bodyPr anchor="t">
            <a:normAutofit/>
          </a:bodyPr>
          <a:lstStyle>
            <a:lvl1pPr marL="0" indent="0" algn="l">
              <a:buNone/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54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93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24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34310" y="1219199"/>
            <a:ext cx="2609316" cy="1050290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4582" y="1219200"/>
            <a:ext cx="14119381" cy="10502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68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735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6933"/>
            <a:ext cx="24382413" cy="13732934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54580" y="1219200"/>
            <a:ext cx="17192217" cy="2641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580" y="4321179"/>
            <a:ext cx="17192217" cy="7761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09329" y="12082725"/>
            <a:ext cx="182375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56BD-EBF6-F04C-B88C-52582AC3F228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54580" y="12082725"/>
            <a:ext cx="1259440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80209" y="12082725"/>
            <a:ext cx="1366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1"/>
                </a:solidFill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04" r:id="rId18"/>
    <p:sldLayoutId id="2147483705" r:id="rId19"/>
  </p:sldLayoutIdLst>
  <p:txStyles>
    <p:titleStyle>
      <a:lvl1pPr algn="l" defTabSz="914354" rtl="0" eaLnBrk="1" latinLnBrk="0" hangingPunct="1">
        <a:spcBef>
          <a:spcPct val="0"/>
        </a:spcBef>
        <a:buNone/>
        <a:defRPr sz="72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766" indent="-685766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485826" indent="-571471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2285886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3200240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4114594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5028949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5943303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6857657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7772011" indent="-457177" algn="l" defTabSz="914354" rtl="0" eaLnBrk="1" latinLnBrk="0" hangingPunct="1">
        <a:spcBef>
          <a:spcPts val="2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91435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gileshospice.com/product/thank-you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1" y="1009169"/>
            <a:ext cx="11346458" cy="5955654"/>
          </a:xfrm>
        </p:spPr>
        <p:txBody>
          <a:bodyPr>
            <a:normAutofit fontScale="90000"/>
          </a:bodyPr>
          <a:lstStyle/>
          <a:p>
            <a:pPr algn="l"/>
            <a:r>
              <a:rPr lang="en-US" sz="10000" dirty="0"/>
              <a:t>Alberta Dental Practice – New Electronic Medical Record (EMR) System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347" y="25400"/>
            <a:ext cx="1685082" cy="11332308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6" name="Graphic 5" descr="Tooth">
            <a:extLst>
              <a:ext uri="{FF2B5EF4-FFF2-40B4-BE49-F238E27FC236}">
                <a16:creationId xmlns:a16="http://schemas.microsoft.com/office/drawing/2014/main" id="{BEF7E1F4-DCE8-AE74-4D65-5AED6B067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7092" y="3100523"/>
            <a:ext cx="7530893" cy="75308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20478-E249-2762-F7CB-6E443E451E04}"/>
              </a:ext>
            </a:extLst>
          </p:cNvPr>
          <p:cNvSpPr txBox="1"/>
          <p:nvPr/>
        </p:nvSpPr>
        <p:spPr>
          <a:xfrm>
            <a:off x="8386310" y="7281668"/>
            <a:ext cx="11033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Compliance Assessment Assignment</a:t>
            </a:r>
          </a:p>
          <a:p>
            <a:r>
              <a:rPr lang="en-US" sz="3600" dirty="0"/>
              <a:t>CYBR3000 Cybersecurity Standards and Regulations</a:t>
            </a:r>
            <a:endParaRPr lang="en-CA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CD6C6-0F77-7340-A56D-AD0AFEF2F5FB}"/>
              </a:ext>
            </a:extLst>
          </p:cNvPr>
          <p:cNvSpPr txBox="1"/>
          <p:nvPr/>
        </p:nvSpPr>
        <p:spPr>
          <a:xfrm>
            <a:off x="8386310" y="9835044"/>
            <a:ext cx="11033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Submitted By: Arr Domingo</a:t>
            </a:r>
          </a:p>
          <a:p>
            <a:r>
              <a:rPr lang="en-US" sz="3600" dirty="0"/>
              <a:t>Instructor: Sami Haji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31007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16DB-20EF-4720-AF05-2E78E1D8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Alberta Dental Practice – New EMR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7523-0641-483F-B656-334048DD6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580" y="4682141"/>
            <a:ext cx="17192217" cy="77615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Project: Implementation of a New Electronic Medical Record System for an Alberta Dental Clinic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Name: Arr Domingo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Guidelines: AB – Provincial</a:t>
            </a:r>
          </a:p>
          <a:p>
            <a:pPr marL="1370919" lvl="1" indent="-45656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54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C6B3-539E-46A4-A0F2-7D0F2DD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Project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530B-C53F-4565-B019-D6C3821C6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580" y="3534033"/>
            <a:ext cx="17847385" cy="99131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A mid-sized Alberta dental practice is planning to implement a new Electronic Medical Record (EMR) system to streamline patient scheduling, treatment documentation, digital imaging, billing, and secure messaging.</a:t>
            </a:r>
          </a:p>
          <a:p>
            <a:pPr marL="456565" indent="-456565"/>
            <a:r>
              <a:rPr lang="en-US" dirty="0">
                <a:latin typeface="Arial"/>
                <a:cs typeface="Arial"/>
              </a:rPr>
              <a:t>The system will: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Replace physical records and an outdated scheduling tool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Integrate with Alberta </a:t>
            </a:r>
            <a:r>
              <a:rPr lang="en-US" dirty="0" err="1">
                <a:latin typeface="Arial"/>
                <a:cs typeface="Arial"/>
              </a:rPr>
              <a:t>NetCare</a:t>
            </a:r>
            <a:r>
              <a:rPr lang="en-US" dirty="0">
                <a:latin typeface="Arial"/>
                <a:cs typeface="Arial"/>
              </a:rPr>
              <a:t> for patient data lookup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Allow dentists, hygienists, and administrative staff to access charts securely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Enable remote access for dentists during emergency consultations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Store all data in a Canadian cloud environment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The dental practice serves approximately 8,000 active patients and employs 15 staff members</a:t>
            </a:r>
          </a:p>
          <a:p>
            <a:pPr marL="456565" indent="-456565"/>
            <a:endParaRPr lang="en-US" dirty="0">
              <a:latin typeface="Arial"/>
              <a:cs typeface="Arial"/>
            </a:endParaRPr>
          </a:p>
          <a:p>
            <a:pPr marL="456565" indent="-456565"/>
            <a:endParaRPr lang="en-US" dirty="0"/>
          </a:p>
          <a:p>
            <a:pPr marL="1370965" lvl="1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9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4C0B-AED3-42C5-99A6-45C8E249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/>
                <a:cs typeface="Arial"/>
              </a:rPr>
              <a:t>Compliance Teams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2A4381-BEFA-C2AC-F230-28B0FCB9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48366"/>
              </p:ext>
            </p:extLst>
          </p:nvPr>
        </p:nvGraphicFramePr>
        <p:xfrm>
          <a:off x="1463040" y="3944347"/>
          <a:ext cx="19615868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214">
                  <a:extLst>
                    <a:ext uri="{9D8B030D-6E8A-4147-A177-3AD203B41FA5}">
                      <a16:colId xmlns:a16="http://schemas.microsoft.com/office/drawing/2014/main" val="3094762877"/>
                    </a:ext>
                  </a:extLst>
                </a:gridCol>
                <a:gridCol w="14588654">
                  <a:extLst>
                    <a:ext uri="{9D8B030D-6E8A-4147-A177-3AD203B41FA5}">
                      <a16:colId xmlns:a16="http://schemas.microsoft.com/office/drawing/2014/main" val="376795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Clinic Privacy Officer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Oversees privacy compliance, prepares PIA, ensures adherence to HIA (Health Information Act)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 Manager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Ensures technical safeguards, implements system configuration, oversees vendors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8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EMR vendor Rep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architectural documentation, system functionality, and security configuration details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4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Dental Practice Manager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workflow insights, policies, and operational requirements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84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Lead Dentist (Custodian)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authority for health information decisions and signs PIA submission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341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Legal Advisor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Reviews agreements, privacy clauses, and data-sharing contracts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18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35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4E4-5D2F-4254-850F-C25A9EFF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Personal Information Involved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988F-B513-40E2-92F3-DCE36C55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2" y="3651250"/>
            <a:ext cx="16142152" cy="96353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The EMR will store the following health and personal information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Full name, date of birth, gender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Address, phone number, email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Alberta Health care number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Medical and dental history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X-rays and digital imaging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Treatment plans and notes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Billing information (insurance, involves, payments)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Appointment history</a:t>
            </a:r>
          </a:p>
          <a:p>
            <a:pPr marL="1370919" lvl="1" indent="-456565"/>
            <a:r>
              <a:rPr lang="en-US" dirty="0">
                <a:latin typeface="Arial"/>
                <a:cs typeface="Arial"/>
              </a:rPr>
              <a:t>Emergency contract details</a:t>
            </a:r>
          </a:p>
          <a:p>
            <a:pPr lvl="1"/>
            <a:r>
              <a:rPr lang="en-US" dirty="0">
                <a:latin typeface="Arial"/>
                <a:cs typeface="Arial"/>
              </a:rPr>
              <a:t>This includes identifiers, health diagnostics, financial data, and contact information, all regulated under Alberta’s HIA</a:t>
            </a:r>
            <a:endParaRPr lang="en-US" dirty="0"/>
          </a:p>
          <a:p>
            <a:pPr marL="456565" indent="-45656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75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5AAB-B65C-4BD2-A727-A918C06D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Requirement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626B-B2F9-4F8B-B479-CC70E2134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579" y="3456206"/>
            <a:ext cx="17192217" cy="77615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000" dirty="0">
                <a:latin typeface="Arial"/>
                <a:cs typeface="Arial"/>
              </a:rPr>
              <a:t>Detailed system architecture diagram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Data flow diagrams (internal + external integrations)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Privacy and security policies (clinic + vendor)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Cloud hosting agreement with the EMR vendor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Access and authorization matrix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Information sharing agreement (</a:t>
            </a:r>
            <a:r>
              <a:rPr lang="en-US" sz="4000" dirty="0" err="1">
                <a:latin typeface="Arial"/>
                <a:cs typeface="Arial"/>
              </a:rPr>
              <a:t>e.g</a:t>
            </a:r>
            <a:r>
              <a:rPr lang="en-US" sz="4000" dirty="0">
                <a:latin typeface="Arial"/>
                <a:cs typeface="Arial"/>
              </a:rPr>
              <a:t> </a:t>
            </a:r>
            <a:r>
              <a:rPr lang="en-US" sz="4000" dirty="0" err="1">
                <a:latin typeface="Arial"/>
                <a:cs typeface="Arial"/>
              </a:rPr>
              <a:t>NetCare</a:t>
            </a:r>
            <a:r>
              <a:rPr lang="en-US" sz="4000" dirty="0">
                <a:latin typeface="Arial"/>
                <a:cs typeface="Arial"/>
              </a:rPr>
              <a:t>)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Retention and Destruction policy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Backup and disaster recovery plan</a:t>
            </a:r>
          </a:p>
          <a:p>
            <a:pPr marL="456565" indent="-456565"/>
            <a:r>
              <a:rPr lang="en-US" sz="4000" dirty="0">
                <a:latin typeface="Arial"/>
                <a:cs typeface="Arial"/>
              </a:rPr>
              <a:t>Threat and risk assessment (TRA)</a:t>
            </a:r>
          </a:p>
          <a:p>
            <a:pPr marL="456565" indent="-456565"/>
            <a:endParaRPr lang="en-US" sz="4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978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0E4D-0DD6-5855-43A1-34C3442D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7556-1184-757C-C68C-C6513B3A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Assessment Sections (AB PIA Requirements)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73D6-BE7F-381C-16FF-F0139FC5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580" y="4279214"/>
            <a:ext cx="15153612" cy="828537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Under Alberta Guidelines (HIA), the PIA includes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Project Overview and Purpose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Collection of Health Information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Use and Disclosure of Health Information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Security Safeguards (Administrative, physical, technical)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Access, correction &amp; patient rights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Retention and Destruction practices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Vendor and third-party management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Risk assessment Mitigation Measures</a:t>
            </a:r>
          </a:p>
        </p:txBody>
      </p:sp>
    </p:spTree>
    <p:extLst>
      <p:ext uri="{BB962C8B-B14F-4D97-AF65-F5344CB8AC3E}">
        <p14:creationId xmlns:p14="http://schemas.microsoft.com/office/powerpoint/2010/main" val="202339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950C-A62D-F36C-463D-6F04AB95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DD65-F2AD-F67E-20F7-AEBB7F36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Key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3A0B-035A-781F-5F1F-724F3704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2653" y="3393174"/>
            <a:ext cx="8320006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2600" dirty="0">
                <a:latin typeface="Arial"/>
                <a:cs typeface="Arial"/>
              </a:rPr>
              <a:t>Retention &amp; Destruction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Dental records retained for 10 years after last visit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Secure deletion process verified with vendor documentation</a:t>
            </a:r>
          </a:p>
          <a:p>
            <a:pPr marL="456565" indent="-456565"/>
            <a:r>
              <a:rPr lang="en-US" sz="2600" dirty="0">
                <a:latin typeface="Arial"/>
                <a:cs typeface="Arial"/>
              </a:rPr>
              <a:t>Vendor Risk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Vendor uses shared-responsibility cloud security model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SOC 2 Type 2 certification provided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Incident response plan outlines reporting within 24 hours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E577BA-114D-320C-B40C-320E22FAC71D}"/>
              </a:ext>
            </a:extLst>
          </p:cNvPr>
          <p:cNvSpPr txBox="1">
            <a:spLocks/>
          </p:cNvSpPr>
          <p:nvPr/>
        </p:nvSpPr>
        <p:spPr>
          <a:xfrm>
            <a:off x="1049596" y="3048557"/>
            <a:ext cx="10120912" cy="96851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685766" indent="-685766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485826" indent="-571471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914354" rtl="0" eaLnBrk="1" latinLnBrk="0" hangingPunct="1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/>
            <a:r>
              <a:rPr lang="en-US" sz="2600" dirty="0">
                <a:latin typeface="Arial"/>
                <a:cs typeface="Arial"/>
              </a:rPr>
              <a:t>Collection of Health Information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Only necessary health information is collected to provide dental care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Intake forms collect past dental history and current medications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The EMR automatically logs all data entry sources</a:t>
            </a:r>
          </a:p>
          <a:p>
            <a:pPr marL="456565" indent="-456565"/>
            <a:r>
              <a:rPr lang="en-US" sz="2600" dirty="0">
                <a:latin typeface="Arial"/>
                <a:cs typeface="Arial"/>
              </a:rPr>
              <a:t>Use &amp; Disclosure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Data is used solely for care, billing, and continuity of patient service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Disclosure may occur to insurers and </a:t>
            </a:r>
            <a:r>
              <a:rPr lang="en-US" sz="2600" dirty="0" err="1">
                <a:latin typeface="Arial"/>
                <a:cs typeface="Arial"/>
              </a:rPr>
              <a:t>NetCare</a:t>
            </a:r>
            <a:r>
              <a:rPr lang="en-US" sz="2600" dirty="0">
                <a:latin typeface="Arial"/>
                <a:cs typeface="Arial"/>
              </a:rPr>
              <a:t> under HIA rules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Remote access is restricted to license dentists only</a:t>
            </a:r>
          </a:p>
          <a:p>
            <a:pPr marL="456565" indent="-456565"/>
            <a:r>
              <a:rPr lang="en-US" sz="2600" dirty="0">
                <a:latin typeface="Arial"/>
                <a:cs typeface="Arial"/>
              </a:rPr>
              <a:t>Security Safeguards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System uses MFA for all users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Data encrypted in transit (TLS 1.2+) and at rest (AES-256)</a:t>
            </a:r>
          </a:p>
          <a:p>
            <a:pPr marL="1370919" lvl="1" indent="-456565"/>
            <a:r>
              <a:rPr lang="en-US" sz="2600" dirty="0">
                <a:latin typeface="Arial"/>
                <a:cs typeface="Arial"/>
              </a:rPr>
              <a:t>Vendor servers located in Canada to comply with HIA</a:t>
            </a:r>
          </a:p>
        </p:txBody>
      </p:sp>
    </p:spTree>
    <p:extLst>
      <p:ext uri="{BB962C8B-B14F-4D97-AF65-F5344CB8AC3E}">
        <p14:creationId xmlns:p14="http://schemas.microsoft.com/office/powerpoint/2010/main" val="1216391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D5D2-5AB1-D74A-FEBB-C3F6E13C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CBD-9F8C-3CC7-9022-C1C82E37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Privacy Risk Matrix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20A1F4-77AF-2E64-7160-5D78B9641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52164"/>
              </p:ext>
            </p:extLst>
          </p:nvPr>
        </p:nvGraphicFramePr>
        <p:xfrm>
          <a:off x="1042910" y="3301795"/>
          <a:ext cx="19615868" cy="762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214">
                  <a:extLst>
                    <a:ext uri="{9D8B030D-6E8A-4147-A177-3AD203B41FA5}">
                      <a16:colId xmlns:a16="http://schemas.microsoft.com/office/drawing/2014/main" val="3094762877"/>
                    </a:ext>
                  </a:extLst>
                </a:gridCol>
                <a:gridCol w="14588654">
                  <a:extLst>
                    <a:ext uri="{9D8B030D-6E8A-4147-A177-3AD203B41FA5}">
                      <a16:colId xmlns:a16="http://schemas.microsoft.com/office/drawing/2014/main" val="376795919"/>
                    </a:ext>
                  </a:extLst>
                </a:gridCol>
              </a:tblGrid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Risk 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3479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Unauthorized Access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user passwords or improper role assignment may allow access to patient records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63965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Cloud Hosting Vulnerabilities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Breach of vendor hosting platform cloud expose health information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8572"/>
                  </a:ext>
                </a:extLst>
              </a:tr>
              <a:tr h="1577961">
                <a:tc>
                  <a:txBody>
                    <a:bodyPr/>
                    <a:lstStyle/>
                    <a:p>
                      <a:r>
                        <a:rPr lang="en-US" dirty="0"/>
                        <a:t>Improper disposal of records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Staff may not follow deletion procedures consistently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47018"/>
                  </a:ext>
                </a:extLst>
              </a:tr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Remote Access Risk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logins increase exposure if MFA fails or is bypassed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841347"/>
                  </a:ext>
                </a:extLst>
              </a:tr>
              <a:tr h="849671">
                <a:tc>
                  <a:txBody>
                    <a:bodyPr/>
                    <a:lstStyle/>
                    <a:p>
                      <a:r>
                        <a:rPr lang="en-US" dirty="0"/>
                        <a:t>Third-party data sharing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Insurer or </a:t>
                      </a:r>
                      <a:r>
                        <a:rPr lang="en-US" dirty="0" err="1"/>
                        <a:t>NetCare</a:t>
                      </a:r>
                      <a:r>
                        <a:rPr lang="en-US" dirty="0"/>
                        <a:t> integrations may introduce additional privacy risks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34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49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3D10-3212-9852-BB9A-D7C6B54B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6DFC-4E7B-DF20-1BBD-555883E8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730251"/>
            <a:ext cx="21517664" cy="265112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Mitigation Strategies (1/2)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CD238-D9E0-E436-786C-25B062B18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459" y="2712137"/>
            <a:ext cx="19027196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Risk: Unauthorized Access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Implement strict role-based access control (RBAC)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Enforce MFA and minimum password standards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Provide quarterly privacy training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Cloud Hosting Vulnerabilities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Ensure vendor maintains Canadian data residency and SOC 2 compliance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Require annual security audit report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Encrypt all backups using AES-256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Improper Disposal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Automated deletion workflow tied to retention rules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Staff training on retention and destruction</a:t>
            </a:r>
          </a:p>
        </p:txBody>
      </p:sp>
    </p:spTree>
    <p:extLst>
      <p:ext uri="{BB962C8B-B14F-4D97-AF65-F5344CB8AC3E}">
        <p14:creationId xmlns:p14="http://schemas.microsoft.com/office/powerpoint/2010/main" val="1451446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4BC0-E377-30AB-8387-2CD61B2D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D514-1F0E-E4CF-2188-2264AEFA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730251"/>
            <a:ext cx="21517664" cy="265112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Mitigation Strategies (2/2)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73C6-AD03-379D-641B-8532951A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96851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6565" indent="-456565"/>
            <a:r>
              <a:rPr lang="en-US" sz="4800" dirty="0">
                <a:latin typeface="Arial"/>
                <a:cs typeface="Arial"/>
              </a:rPr>
              <a:t>Risk: Remote Access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Require VPN with MFA for off-site login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Restrict remote access to dentists only</a:t>
            </a:r>
          </a:p>
          <a:p>
            <a:pPr marL="456565" indent="-456565"/>
            <a:r>
              <a:rPr lang="en-US" sz="4800" dirty="0">
                <a:latin typeface="Arial"/>
                <a:cs typeface="Arial"/>
              </a:rPr>
              <a:t>Risk: Third-Party Data Sharing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Establish formal information-sharing agreements</a:t>
            </a:r>
          </a:p>
          <a:p>
            <a:pPr marL="1370919" lvl="1" indent="-456565"/>
            <a:r>
              <a:rPr lang="en-US" sz="4000" dirty="0">
                <a:latin typeface="Arial"/>
                <a:cs typeface="Arial"/>
              </a:rPr>
              <a:t>Limit disclosure to minimum necessary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69558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6934"/>
            <a:ext cx="24382412" cy="13732934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pic>
        <p:nvPicPr>
          <p:cNvPr id="4" name="Picture 3" descr="A thank you card with colorful text&#10;&#10;AI-generated content may be incorrect.">
            <a:extLst>
              <a:ext uri="{FF2B5EF4-FFF2-40B4-BE49-F238E27FC236}">
                <a16:creationId xmlns:a16="http://schemas.microsoft.com/office/drawing/2014/main" id="{1C9F005B-4014-A6EA-8F60-9A68A14A3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580" r="1" b="13877"/>
          <a:stretch>
            <a:fillRect/>
          </a:stretch>
        </p:blipFill>
        <p:spPr>
          <a:xfrm>
            <a:off x="20" y="-2"/>
            <a:ext cx="10789197" cy="13716002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1C861-D5BD-C84D-939D-4E463845F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0425" y="3357330"/>
            <a:ext cx="7775172" cy="635317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 defTabSz="457200"/>
            <a:r>
              <a:rPr lang="en-US" sz="6600" dirty="0">
                <a:solidFill>
                  <a:schemeClr val="accent1"/>
                </a:solidFill>
              </a:rPr>
              <a:t>SAMI,</a:t>
            </a:r>
            <a:br>
              <a:rPr lang="en-US" sz="6600" dirty="0">
                <a:solidFill>
                  <a:schemeClr val="accent1"/>
                </a:solidFill>
              </a:rPr>
            </a:br>
            <a:r>
              <a:rPr lang="en-US" sz="6600" dirty="0">
                <a:solidFill>
                  <a:schemeClr val="accent1"/>
                </a:solidFill>
              </a:rPr>
              <a:t>You made this term</a:t>
            </a:r>
            <a:br>
              <a:rPr lang="en-US" sz="6600" dirty="0">
                <a:solidFill>
                  <a:schemeClr val="accent1"/>
                </a:solidFill>
              </a:rPr>
            </a:br>
            <a:r>
              <a:rPr lang="en-US" sz="6600" dirty="0">
                <a:solidFill>
                  <a:schemeClr val="accent1"/>
                </a:solidFill>
              </a:rPr>
              <a:t>easy and fun</a:t>
            </a:r>
            <a:br>
              <a:rPr lang="en-US" sz="6600" dirty="0">
                <a:solidFill>
                  <a:schemeClr val="accent1"/>
                </a:solidFill>
              </a:rPr>
            </a:br>
            <a:r>
              <a:rPr lang="en-US" sz="6600" dirty="0">
                <a:solidFill>
                  <a:schemeClr val="accent1"/>
                </a:solidFill>
              </a:rPr>
              <a:t>I learn a lot </a:t>
            </a:r>
          </a:p>
        </p:txBody>
      </p:sp>
    </p:spTree>
    <p:extLst>
      <p:ext uri="{BB962C8B-B14F-4D97-AF65-F5344CB8AC3E}">
        <p14:creationId xmlns:p14="http://schemas.microsoft.com/office/powerpoint/2010/main" val="423809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45CBA45D66514C94021EECD50E73DD" ma:contentTypeVersion="11" ma:contentTypeDescription="Create a new document." ma:contentTypeScope="" ma:versionID="2d013ea80ab1575133f1f60f7e18d5a6">
  <xsd:schema xmlns:xsd="http://www.w3.org/2001/XMLSchema" xmlns:xs="http://www.w3.org/2001/XMLSchema" xmlns:p="http://schemas.microsoft.com/office/2006/metadata/properties" xmlns:ns2="d7e6c23a-007f-45a1-9a2e-6f9c782b9ab2" xmlns:ns3="96a51d45-16b5-40df-b25b-97f43ab630b8" targetNamespace="http://schemas.microsoft.com/office/2006/metadata/properties" ma:root="true" ma:fieldsID="9aa45b330ff9651f40cc071682040c46" ns2:_="" ns3:_="">
    <xsd:import namespace="d7e6c23a-007f-45a1-9a2e-6f9c782b9ab2"/>
    <xsd:import namespace="96a51d45-16b5-40df-b25b-97f43ab630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6c23a-007f-45a1-9a2e-6f9c782b9a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1d45-16b5-40df-b25b-97f43ab630b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d7e6c23a-007f-45a1-9a2e-6f9c782b9ab2"/>
    <ds:schemaRef ds:uri="http://purl.org/dc/elements/1.1/"/>
    <ds:schemaRef ds:uri="http://schemas.openxmlformats.org/package/2006/metadata/core-properties"/>
    <ds:schemaRef ds:uri="http://purl.org/dc/dcmitype/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DFE027C-BBA7-4FA5-BE28-F06A5156BE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e6c23a-007f-45a1-9a2e-6f9c782b9ab2"/>
    <ds:schemaRef ds:uri="96a51d45-16b5-40df-b25b-97f43ab630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9144</TotalTime>
  <Words>778</Words>
  <Application>Microsoft Office PowerPoint</Application>
  <PresentationFormat>Custom</PresentationFormat>
  <Paragraphs>129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Alberta Dental Practice – New Electronic Medical Record (EMR) System</vt:lpstr>
      <vt:lpstr>Alberta Dental Practice – New EMR System</vt:lpstr>
      <vt:lpstr>Project Description</vt:lpstr>
      <vt:lpstr>Compliance Teams</vt:lpstr>
      <vt:lpstr>Personal Information Involved</vt:lpstr>
      <vt:lpstr>Requirement Documentation</vt:lpstr>
      <vt:lpstr>Assessment Sections (AB PIA Requirements)</vt:lpstr>
      <vt:lpstr>Key Findings</vt:lpstr>
      <vt:lpstr>Privacy Risk Matrix</vt:lpstr>
      <vt:lpstr>Mitigation Strategies (1/2)</vt:lpstr>
      <vt:lpstr>Mitigation Strategies (2/2)</vt:lpstr>
      <vt:lpstr>SAMI, You made this term easy and fun I learn a lot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Kendra Parker</dc:creator>
  <cp:lastModifiedBy>ARR PERSONAL ACOUNT</cp:lastModifiedBy>
  <cp:revision>61</cp:revision>
  <cp:lastPrinted>2019-08-01T00:13:24Z</cp:lastPrinted>
  <dcterms:created xsi:type="dcterms:W3CDTF">2020-02-13T04:19:29Z</dcterms:created>
  <dcterms:modified xsi:type="dcterms:W3CDTF">2025-12-04T03:53:28Z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0x0101006845CBA45D66514C94021EECD50E73DD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2025-10-23T18:01:46Z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e61c6265-a424-4c8c-8c1e-19c7d307c709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</Properties>
</file>