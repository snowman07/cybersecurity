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17"/>
  </p:notesMasterIdLst>
  <p:handoutMasterIdLst>
    <p:handoutMasterId r:id="rId18"/>
  </p:handoutMasterIdLst>
  <p:sldIdLst>
    <p:sldId id="278" r:id="rId5"/>
    <p:sldId id="291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92" r:id="rId14"/>
    <p:sldId id="293" r:id="rId15"/>
    <p:sldId id="288" r:id="rId16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7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96"/>
    <p:restoredTop sz="94694"/>
  </p:normalViewPr>
  <p:slideViewPr>
    <p:cSldViewPr snapToGrid="0" snapToObjects="1" showGuides="1">
      <p:cViewPr varScale="1">
        <p:scale>
          <a:sx n="56" d="100"/>
          <a:sy n="56" d="100"/>
        </p:scale>
        <p:origin x="606" y="96"/>
      </p:cViewPr>
      <p:guideLst>
        <p:guide orient="horz" pos="4320"/>
        <p:guide pos="77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B3F030-25FA-A543-BFBF-761F02F6E6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2FF95-1FB2-5A4B-9A6E-D20FD3F889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85D7A-CA92-5443-B821-58789E6DAB7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E767D0-AB74-6C43-A583-F67E29C687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F816A-9129-4E41-8433-93B18C20AF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43503-5B3B-BC4A-B035-E280D658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40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09547-9C77-4C28-B8E6-E3CAD3F77AE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A7DE42-AD45-485E-B570-698264B1F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3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101705-A011-4D0B-AEF9-D303EACD654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350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3266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964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7162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3661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0700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0164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9220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84BBC-BC9F-BEA7-FD0B-12CB99E30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85532-6CB2-E023-2F82-5FAB59E0D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D4544-101C-FB32-E117-48627A450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949CE-5474-8B35-8C63-2262DD35F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4026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5BC68-AA79-2516-7E40-33F43E1C9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13381-8FE8-0B58-2C28-6B8839C5F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29EF2-70FD-6430-3962-2D759F0AF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10225-EFEC-365F-8053-51E0A7D90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0584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5799" y="5078186"/>
            <a:ext cx="21210814" cy="293778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9600" cap="all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5799" y="8752114"/>
            <a:ext cx="21210814" cy="2269673"/>
          </a:xfrm>
        </p:spPr>
        <p:txBody>
          <a:bodyPr/>
          <a:lstStyle>
            <a:lvl1pPr marL="0" indent="0" algn="ctr">
              <a:buNone/>
              <a:defRPr sz="4800">
                <a:solidFill>
                  <a:schemeClr val="bg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50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291" y="3651250"/>
            <a:ext cx="21029831" cy="7373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 userDrawn="1"/>
        </p:nvSpPr>
        <p:spPr>
          <a:xfrm>
            <a:off x="3962400" y="13598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97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291" y="3651249"/>
            <a:ext cx="10362526" cy="91013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3596" y="3651250"/>
            <a:ext cx="10362526" cy="7566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497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 cap="all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291" y="3651250"/>
            <a:ext cx="21029831" cy="696232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748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5799" y="5570555"/>
            <a:ext cx="21210814" cy="293778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8000" cap="all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1353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87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87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D4256BD-EBF6-F04C-B88C-52582AC3F228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4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98" r:id="rId2"/>
    <p:sldLayoutId id="2147483695" r:id="rId3"/>
    <p:sldLayoutId id="2147483676" r:id="rId4"/>
    <p:sldLayoutId id="2147483703" r:id="rId5"/>
    <p:sldLayoutId id="2147483704" r:id="rId6"/>
    <p:sldLayoutId id="2147483705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72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34F75-93C1-9D40-86A3-4C13A50E2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5799" y="6216873"/>
            <a:ext cx="21210814" cy="2937782"/>
          </a:xfrm>
        </p:spPr>
        <p:txBody>
          <a:bodyPr/>
          <a:lstStyle/>
          <a:p>
            <a:r>
              <a:rPr lang="en-US" dirty="0"/>
              <a:t>Cloud Provider Breach </a:t>
            </a:r>
            <a:br>
              <a:rPr lang="en-US" dirty="0"/>
            </a:br>
            <a:r>
              <a:rPr lang="en-US" dirty="0"/>
              <a:t>“The GYM”</a:t>
            </a:r>
          </a:p>
        </p:txBody>
      </p:sp>
    </p:spTree>
    <p:extLst>
      <p:ext uri="{BB962C8B-B14F-4D97-AF65-F5344CB8AC3E}">
        <p14:creationId xmlns:p14="http://schemas.microsoft.com/office/powerpoint/2010/main" val="3310079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DD9CE-BDE1-4978-8779-8971F8F22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Team and Policies (Preparation Phase)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A0D46-2E19-4609-8BEF-92CD80F88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>
              <a:lnSpc>
                <a:spcPct val="150000"/>
              </a:lnSpc>
            </a:pPr>
            <a:r>
              <a:rPr lang="en-CA" dirty="0"/>
              <a:t>Incident Response Team (IRT)</a:t>
            </a:r>
          </a:p>
          <a:p>
            <a:pPr lvl="2">
              <a:lnSpc>
                <a:spcPct val="150000"/>
              </a:lnSpc>
            </a:pPr>
            <a:r>
              <a:rPr lang="en-CA" dirty="0"/>
              <a:t>IR Lead: coordinates overall response and communication</a:t>
            </a:r>
          </a:p>
          <a:p>
            <a:pPr lvl="2">
              <a:lnSpc>
                <a:spcPct val="150000"/>
              </a:lnSpc>
            </a:pPr>
            <a:r>
              <a:rPr lang="en-CA" dirty="0"/>
              <a:t>Cybersecurity Analyst: Investigate API activity, access logs</a:t>
            </a:r>
          </a:p>
          <a:p>
            <a:pPr lvl="2">
              <a:lnSpc>
                <a:spcPct val="150000"/>
              </a:lnSpc>
            </a:pPr>
            <a:r>
              <a:rPr lang="en-CA" dirty="0"/>
              <a:t>Legal Counsel: Review cloud vendor contracts, privacy obligations</a:t>
            </a:r>
          </a:p>
          <a:p>
            <a:pPr lvl="2">
              <a:lnSpc>
                <a:spcPct val="150000"/>
              </a:lnSpc>
            </a:pPr>
            <a:r>
              <a:rPr lang="en-CA" dirty="0"/>
              <a:t>PR/Communication: Handle external messaging to customers</a:t>
            </a:r>
          </a:p>
          <a:p>
            <a:pPr lvl="1">
              <a:lnSpc>
                <a:spcPct val="150000"/>
              </a:lnSpc>
            </a:pPr>
            <a:r>
              <a:rPr lang="en-CA" dirty="0"/>
              <a:t>Key Policies</a:t>
            </a:r>
          </a:p>
          <a:p>
            <a:pPr lvl="2">
              <a:lnSpc>
                <a:spcPct val="150000"/>
              </a:lnSpc>
            </a:pPr>
            <a:r>
              <a:rPr lang="en-CA" dirty="0"/>
              <a:t>Vendor Management Policy: Defines third-party security obligations</a:t>
            </a:r>
          </a:p>
          <a:p>
            <a:pPr lvl="2">
              <a:lnSpc>
                <a:spcPct val="150000"/>
              </a:lnSpc>
            </a:pPr>
            <a:r>
              <a:rPr lang="en-CA" dirty="0"/>
              <a:t>Access Control policy: Ensures API keys and credentials are rotated</a:t>
            </a:r>
          </a:p>
          <a:p>
            <a:pPr lvl="2">
              <a:lnSpc>
                <a:spcPct val="150000"/>
              </a:lnSpc>
            </a:pPr>
            <a:r>
              <a:rPr lang="en-CA" dirty="0"/>
              <a:t>Data Backup policy: Ensures secure offsite copies of customer data</a:t>
            </a:r>
          </a:p>
          <a:p>
            <a:pPr lvl="2">
              <a:lnSpc>
                <a:spcPct val="150000"/>
              </a:lnSpc>
            </a:pPr>
            <a:r>
              <a:rPr lang="en-CA" dirty="0"/>
              <a:t>Incident Response Policy: Defines breach notification procedures</a:t>
            </a:r>
          </a:p>
        </p:txBody>
      </p:sp>
    </p:spTree>
    <p:extLst>
      <p:ext uri="{BB962C8B-B14F-4D97-AF65-F5344CB8AC3E}">
        <p14:creationId xmlns:p14="http://schemas.microsoft.com/office/powerpoint/2010/main" val="42749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716DB-20EF-4720-AF05-2E78E1D8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Detection and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D7523-0641-483F-B656-334048DD6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dirty="0">
                <a:latin typeface="Arial"/>
                <a:cs typeface="Arial"/>
              </a:rPr>
              <a:t>Alert triggered by cloud monitoring tool </a:t>
            </a:r>
            <a:r>
              <a:rPr lang="en-US" dirty="0">
                <a:latin typeface="Arial"/>
                <a:cs typeface="Arial"/>
                <a:sym typeface="Wingdings" panose="05000000000000000000" pitchFamily="2" charset="2"/>
              </a:rPr>
              <a:t> API misuse detected</a:t>
            </a:r>
          </a:p>
          <a:p>
            <a:pPr marL="456565" indent="-456565"/>
            <a:r>
              <a:rPr lang="en-US" dirty="0">
                <a:latin typeface="Arial"/>
                <a:cs typeface="Arial"/>
                <a:sym typeface="Wingdings" panose="05000000000000000000" pitchFamily="2" charset="2"/>
              </a:rPr>
              <a:t>Verify breach scope: identify affected tenant data, timestamp, IPs</a:t>
            </a:r>
          </a:p>
          <a:p>
            <a:pPr marL="456565" indent="-456565"/>
            <a:r>
              <a:rPr lang="en-US" dirty="0">
                <a:latin typeface="Arial"/>
                <a:cs typeface="Arial"/>
                <a:sym typeface="Wingdings" panose="05000000000000000000" pitchFamily="2" charset="2"/>
              </a:rPr>
              <a:t>Preserve forensic evidence (API logs, IAM events, cloud audit trails)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3546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1C6B3-539E-46A4-A0F2-7D0F2DDC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Containment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F530B-C53F-4565-B019-D6C3821C6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dirty="0">
                <a:latin typeface="Arial"/>
                <a:cs typeface="Arial"/>
              </a:rPr>
              <a:t>Revoke compromised API key</a:t>
            </a:r>
          </a:p>
          <a:p>
            <a:pPr marL="456565" indent="-456565"/>
            <a:r>
              <a:rPr lang="en-US" dirty="0">
                <a:latin typeface="Arial"/>
                <a:cs typeface="Arial"/>
              </a:rPr>
              <a:t>Isolate affected tenant environment</a:t>
            </a:r>
          </a:p>
          <a:p>
            <a:pPr marL="456565" indent="-456565"/>
            <a:r>
              <a:rPr lang="en-US" dirty="0">
                <a:latin typeface="Arial"/>
                <a:cs typeface="Arial"/>
              </a:rPr>
              <a:t>Suspend third-party integration until investigation completed</a:t>
            </a:r>
          </a:p>
          <a:p>
            <a:pPr marL="1370965" lvl="1" indent="-456565"/>
            <a:endParaRPr lang="en-US" dirty="0"/>
          </a:p>
          <a:p>
            <a:pPr marL="1370965" lvl="1" indent="-45656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499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24C0B-AED3-42C5-99A6-45C8E2493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latin typeface="Arial"/>
                <a:cs typeface="Arial"/>
              </a:rPr>
              <a:t>Eradication and Recovery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86245-A9CA-4983-8FFE-FE5E6B722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CA" dirty="0">
                <a:latin typeface="Arial"/>
                <a:cs typeface="Arial"/>
              </a:rPr>
              <a:t>Review and rotate all credentials</a:t>
            </a:r>
          </a:p>
          <a:p>
            <a:pPr marL="456565" indent="-456565"/>
            <a:r>
              <a:rPr lang="en-CA" dirty="0">
                <a:latin typeface="Arial"/>
                <a:cs typeface="Arial"/>
              </a:rPr>
              <a:t>Patch API vulnerabilities or misconfiguration</a:t>
            </a:r>
          </a:p>
          <a:p>
            <a:pPr marL="456565" indent="-456565"/>
            <a:r>
              <a:rPr lang="en-CA" dirty="0">
                <a:latin typeface="Arial"/>
                <a:cs typeface="Arial"/>
              </a:rPr>
              <a:t>Restore integrity, checked data backups</a:t>
            </a:r>
          </a:p>
          <a:p>
            <a:pPr marL="456565" indent="-456565"/>
            <a:r>
              <a:rPr lang="en-CA" dirty="0">
                <a:latin typeface="Arial"/>
                <a:cs typeface="Arial"/>
              </a:rPr>
              <a:t>Validate that unauthorized access is terminated</a:t>
            </a:r>
          </a:p>
        </p:txBody>
      </p:sp>
    </p:spTree>
    <p:extLst>
      <p:ext uri="{BB962C8B-B14F-4D97-AF65-F5344CB8AC3E}">
        <p14:creationId xmlns:p14="http://schemas.microsoft.com/office/powerpoint/2010/main" val="1999355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F54E4-5D2F-4254-850F-C25A9EFF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Post-Incident Activity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E988F-B513-40E2-92F3-DCE36C55E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dirty="0">
                <a:latin typeface="Arial"/>
                <a:cs typeface="Arial"/>
              </a:rPr>
              <a:t>Conduct vendor performance review</a:t>
            </a:r>
          </a:p>
          <a:p>
            <a:pPr marL="456565" indent="-456565"/>
            <a:r>
              <a:rPr lang="en-US" dirty="0">
                <a:latin typeface="Arial"/>
                <a:cs typeface="Arial"/>
              </a:rPr>
              <a:t>Update third-party security policies</a:t>
            </a:r>
          </a:p>
          <a:p>
            <a:pPr marL="456565" indent="-456565"/>
            <a:r>
              <a:rPr lang="en-US" dirty="0">
                <a:latin typeface="Arial"/>
                <a:cs typeface="Arial"/>
              </a:rPr>
              <a:t>Document and share final incident response internally</a:t>
            </a:r>
          </a:p>
          <a:p>
            <a:pPr marL="1370919" lvl="1" indent="-456565"/>
            <a:endParaRPr lang="en-US" dirty="0"/>
          </a:p>
          <a:p>
            <a:pPr marL="456565" indent="-45656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759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C5AAB-B65C-4BD2-A727-A918C06DF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Legal and Communication Strategy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5626B-B2F9-4F8B-B479-CC70E2134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456565" indent="-456565"/>
            <a:r>
              <a:rPr lang="en-US" sz="4800" dirty="0">
                <a:latin typeface="Arial"/>
                <a:cs typeface="Arial"/>
              </a:rPr>
              <a:t>Breach involves personal and payment data </a:t>
            </a:r>
            <a:r>
              <a:rPr lang="en-US" sz="4800" dirty="0">
                <a:latin typeface="Arial"/>
                <a:cs typeface="Arial"/>
                <a:sym typeface="Wingdings" panose="05000000000000000000" pitchFamily="2" charset="2"/>
              </a:rPr>
              <a:t> PIPEDA applies</a:t>
            </a:r>
          </a:p>
          <a:p>
            <a:pPr marL="456565" indent="-456565"/>
            <a:r>
              <a:rPr lang="en-US" sz="4800" dirty="0">
                <a:latin typeface="Arial"/>
                <a:cs typeface="Arial"/>
                <a:sym typeface="Wingdings" panose="05000000000000000000" pitchFamily="2" charset="2"/>
              </a:rPr>
              <a:t>Notify OPC (Office of the Privacy Commissioner of Canada) with 72-hours</a:t>
            </a:r>
          </a:p>
          <a:p>
            <a:pPr marL="456565" indent="-456565"/>
            <a:r>
              <a:rPr lang="en-US" sz="4800" dirty="0">
                <a:latin typeface="Arial"/>
                <a:cs typeface="Arial"/>
                <a:sym typeface="Wingdings" panose="05000000000000000000" pitchFamily="2" charset="2"/>
              </a:rPr>
              <a:t>Inform affected clients and employees</a:t>
            </a:r>
            <a:endParaRPr lang="en-US" sz="4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9789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36A7F-2036-4F26-B0BF-9C4AE3E0F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Crisis Communication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FB5A0-37B5-4758-9B85-A4B9E4724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dirty="0">
                <a:latin typeface="Arial"/>
                <a:cs typeface="Arial"/>
              </a:rPr>
              <a:t>Stakeholders: leadership, customers, legal, vendor, media</a:t>
            </a:r>
          </a:p>
          <a:p>
            <a:pPr marL="456565" indent="-456565"/>
            <a:r>
              <a:rPr lang="en-US" dirty="0">
                <a:latin typeface="Arial"/>
                <a:cs typeface="Arial"/>
              </a:rPr>
              <a:t>Out-of-band communication using secure chat/phones</a:t>
            </a:r>
          </a:p>
          <a:p>
            <a:pPr marL="456565" indent="-456565"/>
            <a:r>
              <a:rPr lang="en-US" dirty="0">
                <a:latin typeface="Arial"/>
                <a:cs typeface="Arial"/>
              </a:rPr>
              <a:t>Media spokesperson: Communication Director</a:t>
            </a:r>
          </a:p>
          <a:p>
            <a:pPr marL="456565" indent="-456565"/>
            <a:r>
              <a:rPr lang="en-US" dirty="0">
                <a:latin typeface="Arial"/>
                <a:cs typeface="Arial"/>
              </a:rPr>
              <a:t>Key Messages: “We have identified unauthorized access, we have addressed the issue and secured our systems, and we are notifying impacted individuals” </a:t>
            </a:r>
          </a:p>
        </p:txBody>
      </p:sp>
    </p:spTree>
    <p:extLst>
      <p:ext uri="{BB962C8B-B14F-4D97-AF65-F5344CB8AC3E}">
        <p14:creationId xmlns:p14="http://schemas.microsoft.com/office/powerpoint/2010/main" val="513528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F1E1-C9D4-4344-96BB-0590D0256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Additional Slide 1 (Your Choice)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D8E2-690E-40CA-9AEC-3797FAC04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dirty="0">
                <a:latin typeface="Arial"/>
                <a:cs typeface="Arial"/>
              </a:rPr>
              <a:t>……..</a:t>
            </a:r>
          </a:p>
        </p:txBody>
      </p:sp>
    </p:spTree>
    <p:extLst>
      <p:ext uri="{BB962C8B-B14F-4D97-AF65-F5344CB8AC3E}">
        <p14:creationId xmlns:p14="http://schemas.microsoft.com/office/powerpoint/2010/main" val="667530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FCE12-55BC-96E9-6BBA-EE42E42DF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81242-1312-FDA4-ECD5-FEB606BB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Additional Slide 2 (Your Choice)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9A6B7-8738-3B6E-33DE-9C310AABE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dirty="0">
                <a:latin typeface="Arial"/>
                <a:cs typeface="Arial"/>
              </a:rPr>
              <a:t>……..</a:t>
            </a:r>
          </a:p>
        </p:txBody>
      </p:sp>
    </p:spTree>
    <p:extLst>
      <p:ext uri="{BB962C8B-B14F-4D97-AF65-F5344CB8AC3E}">
        <p14:creationId xmlns:p14="http://schemas.microsoft.com/office/powerpoint/2010/main" val="2146385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CCECA-D40E-5575-3BA0-E1365E479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215-4895-2EB7-753A-9436B785C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Additional Slide 3 (Your Choice)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CE36E-AD6C-3F93-E178-9796F14BB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dirty="0">
                <a:latin typeface="Arial"/>
                <a:cs typeface="Arial"/>
              </a:rPr>
              <a:t>……..</a:t>
            </a:r>
          </a:p>
        </p:txBody>
      </p:sp>
    </p:spTree>
    <p:extLst>
      <p:ext uri="{BB962C8B-B14F-4D97-AF65-F5344CB8AC3E}">
        <p14:creationId xmlns:p14="http://schemas.microsoft.com/office/powerpoint/2010/main" val="1445485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1C861-D5BD-C84D-939D-4E463845F8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MS Mincho" panose="02020609040205080304" pitchFamily="49" charset="-128"/>
              </a:rPr>
              <a:t>Thank you</a:t>
            </a:r>
            <a:endParaRPr lang="en-US" dirty="0"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8095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3E87"/>
      </a:dk1>
      <a:lt1>
        <a:srgbClr val="00A0DE"/>
      </a:lt1>
      <a:dk2>
        <a:srgbClr val="005BB9"/>
      </a:dk2>
      <a:lt2>
        <a:srgbClr val="FFFEFE"/>
      </a:lt2>
      <a:accent1>
        <a:srgbClr val="000000"/>
      </a:accent1>
      <a:accent2>
        <a:srgbClr val="91C432"/>
      </a:accent2>
      <a:accent3>
        <a:srgbClr val="693D98"/>
      </a:accent3>
      <a:accent4>
        <a:srgbClr val="C83695"/>
      </a:accent4>
      <a:accent5>
        <a:srgbClr val="F6A71C"/>
      </a:accent5>
      <a:accent6>
        <a:srgbClr val="00BCF2"/>
      </a:accent6>
      <a:hlink>
        <a:srgbClr val="00BCF2"/>
      </a:hlink>
      <a:folHlink>
        <a:srgbClr val="004276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template_1920x1080 (1)" id="{F71D3D19-7CD7-B94E-A3C8-BCCF0142B891}" vid="{B5DF1F6B-D839-884E-B2BC-0C3F7C5039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45CBA45D66514C94021EECD50E73DD" ma:contentTypeVersion="11" ma:contentTypeDescription="Create a new document." ma:contentTypeScope="" ma:versionID="2d013ea80ab1575133f1f60f7e18d5a6">
  <xsd:schema xmlns:xsd="http://www.w3.org/2001/XMLSchema" xmlns:xs="http://www.w3.org/2001/XMLSchema" xmlns:p="http://schemas.microsoft.com/office/2006/metadata/properties" xmlns:ns2="d7e6c23a-007f-45a1-9a2e-6f9c782b9ab2" xmlns:ns3="96a51d45-16b5-40df-b25b-97f43ab630b8" targetNamespace="http://schemas.microsoft.com/office/2006/metadata/properties" ma:root="true" ma:fieldsID="9aa45b330ff9651f40cc071682040c46" ns2:_="" ns3:_="">
    <xsd:import namespace="d7e6c23a-007f-45a1-9a2e-6f9c782b9ab2"/>
    <xsd:import namespace="96a51d45-16b5-40df-b25b-97f43ab630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e6c23a-007f-45a1-9a2e-6f9c782b9a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1d45-16b5-40df-b25b-97f43ab630b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7E4845-7472-4B0C-A0C7-BE9A32CE6D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56E63F-A8C0-4586-AFCD-69964B5AAAEB}">
  <ds:schemaRefs>
    <ds:schemaRef ds:uri="d7e6c23a-007f-45a1-9a2e-6f9c782b9ab2"/>
    <ds:schemaRef ds:uri="http://purl.org/dc/elements/1.1/"/>
    <ds:schemaRef ds:uri="http://schemas.openxmlformats.org/package/2006/metadata/core-properties"/>
    <ds:schemaRef ds:uri="http://purl.org/dc/dcmitype/"/>
    <ds:schemaRef ds:uri="96a51d45-16b5-40df-b25b-97f43ab630b8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DFE027C-BBA7-4FA5-BE28-F06A5156BE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e6c23a-007f-45a1-9a2e-6f9c782b9ab2"/>
    <ds:schemaRef ds:uri="96a51d45-16b5-40df-b25b-97f43ab630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8955</TotalTime>
  <Words>312</Words>
  <Application>Microsoft Office PowerPoint</Application>
  <PresentationFormat>Custom</PresentationFormat>
  <Paragraphs>55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MS Mincho</vt:lpstr>
      <vt:lpstr>Arial</vt:lpstr>
      <vt:lpstr>Calibri</vt:lpstr>
      <vt:lpstr>Office Theme</vt:lpstr>
      <vt:lpstr>Cloud Provider Breach  “The GYM”</vt:lpstr>
      <vt:lpstr>Team and Policies (Preparation Phase)</vt:lpstr>
      <vt:lpstr>Detection and Analysis</vt:lpstr>
      <vt:lpstr>Containment</vt:lpstr>
      <vt:lpstr>Eradication and Recovery</vt:lpstr>
      <vt:lpstr>Post-Incident Activity</vt:lpstr>
      <vt:lpstr>Legal and Communication Strategy</vt:lpstr>
      <vt:lpstr>Crisis Communication</vt:lpstr>
      <vt:lpstr>Additional Slide 1 (Your Choice)</vt:lpstr>
      <vt:lpstr>Additional Slide 2 (Your Choice)</vt:lpstr>
      <vt:lpstr>Additional Slide 3 (Your Choice)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Kendra Parker</dc:creator>
  <cp:lastModifiedBy>Sami Haji</cp:lastModifiedBy>
  <cp:revision>28</cp:revision>
  <cp:lastPrinted>2019-08-01T00:13:24Z</cp:lastPrinted>
  <dcterms:created xsi:type="dcterms:W3CDTF">2020-02-13T04:19:29Z</dcterms:created>
  <dcterms:modified xsi:type="dcterms:W3CDTF">2025-11-07T02:35:42Z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 - Department">
    <vt:lpwstr>197;#Brand|943f07b5-0abf-4eba-9a92-bb911ec4797c</vt:lpwstr>
  </property>
  <property fmtid="{D5CDD505-2E9C-101B-9397-08002B2CF9AE}" pid="3" name="Topic">
    <vt:lpwstr/>
  </property>
  <property fmtid="{D5CDD505-2E9C-101B-9397-08002B2CF9AE}" pid="4" name="Building">
    <vt:lpwstr/>
  </property>
  <property fmtid="{D5CDD505-2E9C-101B-9397-08002B2CF9AE}" pid="5" name="ContentTypeId">
    <vt:lpwstr>0x0101006845CBA45D66514C94021EECD50E73DD</vt:lpwstr>
  </property>
  <property fmtid="{D5CDD505-2E9C-101B-9397-08002B2CF9AE}" pid="6" name="Target Audience">
    <vt:lpwstr/>
  </property>
  <property fmtid="{D5CDD505-2E9C-101B-9397-08002B2CF9AE}" pid="7" name="_dlc_DocIdItemGuid">
    <vt:lpwstr>a4d56298-c866-45f0-a3db-be918181ebef</vt:lpwstr>
  </property>
  <property fmtid="{D5CDD505-2E9C-101B-9397-08002B2CF9AE}" pid="8" name="PublishedDocument.Location">
    <vt:lpwstr/>
  </property>
  <property fmtid="{D5CDD505-2E9C-101B-9397-08002B2CF9AE}" pid="9" name="Program">
    <vt:lpwstr/>
  </property>
  <property fmtid="{D5CDD505-2E9C-101B-9397-08002B2CF9AE}" pid="10" name="MSIP_Label_10877899-02b0-462c-b2a9-b7d15c4f96fe_Enabled">
    <vt:lpwstr>true</vt:lpwstr>
  </property>
  <property fmtid="{D5CDD505-2E9C-101B-9397-08002B2CF9AE}" pid="11" name="MSIP_Label_10877899-02b0-462c-b2a9-b7d15c4f96fe_SetDate">
    <vt:lpwstr>2025-10-23T18:01:46Z</vt:lpwstr>
  </property>
  <property fmtid="{D5CDD505-2E9C-101B-9397-08002B2CF9AE}" pid="12" name="MSIP_Label_10877899-02b0-462c-b2a9-b7d15c4f96fe_Method">
    <vt:lpwstr>Standard</vt:lpwstr>
  </property>
  <property fmtid="{D5CDD505-2E9C-101B-9397-08002B2CF9AE}" pid="13" name="MSIP_Label_10877899-02b0-462c-b2a9-b7d15c4f96fe_Name">
    <vt:lpwstr>Protected [Protected A]</vt:lpwstr>
  </property>
  <property fmtid="{D5CDD505-2E9C-101B-9397-08002B2CF9AE}" pid="14" name="MSIP_Label_10877899-02b0-462c-b2a9-b7d15c4f96fe_SiteId">
    <vt:lpwstr>5c98fb47-d3b9-4649-9d94-f88cbdd9729c</vt:lpwstr>
  </property>
  <property fmtid="{D5CDD505-2E9C-101B-9397-08002B2CF9AE}" pid="15" name="MSIP_Label_10877899-02b0-462c-b2a9-b7d15c4f96fe_ActionId">
    <vt:lpwstr>e61c6265-a424-4c8c-8c1e-19c7d307c709</vt:lpwstr>
  </property>
  <property fmtid="{D5CDD505-2E9C-101B-9397-08002B2CF9AE}" pid="16" name="MSIP_Label_10877899-02b0-462c-b2a9-b7d15c4f96fe_ContentBits">
    <vt:lpwstr>0</vt:lpwstr>
  </property>
  <property fmtid="{D5CDD505-2E9C-101B-9397-08002B2CF9AE}" pid="17" name="MSIP_Label_10877899-02b0-462c-b2a9-b7d15c4f96fe_Tag">
    <vt:lpwstr>10, 3, 0, 1</vt:lpwstr>
  </property>
</Properties>
</file>