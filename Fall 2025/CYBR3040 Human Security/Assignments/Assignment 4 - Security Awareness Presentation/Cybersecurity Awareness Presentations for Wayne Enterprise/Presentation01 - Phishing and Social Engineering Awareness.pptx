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: Title, Topic Overview" id="{ADBADA75-8627-4A48-BBD7-4CFC4F7A1F8B}">
          <p14:sldIdLst>
            <p14:sldId id="256"/>
            <p14:sldId id="257"/>
            <p14:sldId id="258"/>
          </p14:sldIdLst>
        </p14:section>
        <p14:section name="Section 2: Organizational Context, Risk" id="{4917FC7D-839A-4286-B584-6F411EFE28B4}">
          <p14:sldIdLst>
            <p14:sldId id="259"/>
            <p14:sldId id="260"/>
          </p14:sldIdLst>
        </p14:section>
        <p14:section name="Additional Section: Consequences and Best Practices" id="{E592CC97-182E-4BBB-9644-52352B690223}">
          <p14:sldIdLst>
            <p14:sldId id="261"/>
            <p14:sldId id="262"/>
          </p14:sldIdLst>
        </p14:section>
        <p14:section name="Section 4: Key Takeaways and Actionable Advice" id="{28D0F134-48B6-41DD-9282-E79EB24CCE9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45" autoAdjust="0"/>
    <p:restoredTop sz="70874" autoAdjust="0"/>
  </p:normalViewPr>
  <p:slideViewPr>
    <p:cSldViewPr snapToGrid="0" snapToObjects="1">
      <p:cViewPr varScale="1">
        <p:scale>
          <a:sx n="78" d="100"/>
          <a:sy n="78" d="100"/>
        </p:scale>
        <p:origin x="77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0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15956-CA9D-4480-A2E3-149C9209B51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079BF-C027-40DC-B441-22D09A6F5A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6576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everyone, my name is Arr Domingo, your cybersecurity trainer, and today I’ll be talking about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Phishing and Social Engineering Awareness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attacks are becoming more sophisticated every day, and understanding how they work is key to protecting ourselves and our organization."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079BF-C027-40DC-B441-22D09A6F5AA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3959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*"Here’s what we’ll cover in the next few minutes: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we’ll define social engineering and phishing.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we’ll look at why this is a risk for Wayne Enterprise.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I’ll share some realistic examples of these attacks.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We’ll discuss the consequences of falling victim.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I’ll go over best practices and mitigations."*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079BF-C027-40DC-B441-22D09A6F5AA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609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3: Topic Overview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"Social engineering is all about manipulating people to give up confidential information.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Phishing is one of the most common forms—fraudulent emails designed to steal credentials.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There’s also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vishing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uses phone calls, </a:t>
            </a:r>
          </a:p>
          <a:p>
            <a:pPr fontAlgn="t"/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smishing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uses SMS messages. </a:t>
            </a:r>
          </a:p>
          <a:p>
            <a:pPr fontAlgn="t"/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Attackers exploit trust and urgency to trick victims."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079BF-C027-40DC-B441-22D09A6F5AA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2724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4: Organizational Context</a:t>
            </a:r>
          </a:p>
          <a:p>
            <a:pPr fontAlgn="t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"Why is this important for Wayne Enterprise? Because our employees are prime targets.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Phishing emails can compromise sensitive corporate data.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Phone scams might trick someone into revealing passwords.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SMS scams can install malware on devices. One mistake can lead to serious consequences."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079BF-C027-40DC-B441-22D09A6F5AA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2606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5: Realistic Examples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*"Let’s look at a few examples: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email claiming to be from IT asking for your login credentials.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phone call pretending to be HR requesting confidential info.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SMS with a link to ‘update your account,’ which actually leads to a fake site.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attacks look convincing, and that’s why awareness is critical."*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079BF-C027-40DC-B441-22D09A6F5AA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005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6: Consequences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*"What happens if we fall victim?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breaches can lead to financial loss.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company’s reputation can suffer.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may be legal and compliance penalties.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most importantly, we lose customer trust. 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risks we cannot afford."*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079BF-C027-40DC-B441-22D09A6F5AA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813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7: Best Practices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*"So, what can we do?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 verify the sender before clicking links or sharing information.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 share passwords over email or phone.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 suspicious emails and calls to IT immediately.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enable Multi-Factor Authentication wherever possible. 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simple steps make a big difference."*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079BF-C027-40DC-B441-22D09A6F5AA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8984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8: Key Takeaways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*"To wrap up: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before you click—always verify.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 share credentials via email, phone, or SMS.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 suspicious activity promptly.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Stay informed and vigilant.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Together, we can protect ourselves and Wayne Enterprise from these threats."*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079BF-C027-40DC-B441-22D09A6F5AA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0151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rivateinternetaccess.com/blog/how-to-purify-your-device-after-clicking-a-phishing-link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fishing hook on a credit card&#10;&#10;AI-generated content may be incorrect.">
            <a:extLst>
              <a:ext uri="{FF2B5EF4-FFF2-40B4-BE49-F238E27FC236}">
                <a16:creationId xmlns:a16="http://schemas.microsoft.com/office/drawing/2014/main" id="{890D2808-E337-D64D-5854-3BBC557F2B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000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432619"/>
            <a:ext cx="6858000" cy="2607035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Phishing and Social Engineering Awareness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26635"/>
            <a:ext cx="6858000" cy="109839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Understanding and Preventing Social Engineering Attacks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22E3A7B-CE83-8FBC-9A15-8258475CB177}"/>
              </a:ext>
            </a:extLst>
          </p:cNvPr>
          <p:cNvSpPr txBox="1">
            <a:spLocks/>
          </p:cNvSpPr>
          <p:nvPr/>
        </p:nvSpPr>
        <p:spPr>
          <a:xfrm>
            <a:off x="1143000" y="5210407"/>
            <a:ext cx="6858000" cy="1098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FFFFFF"/>
                </a:solidFill>
              </a:rPr>
              <a:t>Presented By: Arr Domingo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1F1A176-FFDD-2005-CD88-72ABDB5C0FAF}"/>
              </a:ext>
            </a:extLst>
          </p:cNvPr>
          <p:cNvSpPr/>
          <p:nvPr/>
        </p:nvSpPr>
        <p:spPr>
          <a:xfrm>
            <a:off x="3678789" y="772047"/>
            <a:ext cx="5000124" cy="1034280"/>
          </a:xfrm>
          <a:custGeom>
            <a:avLst/>
            <a:gdLst>
              <a:gd name="connsiteX0" fmla="*/ 0 w 5000124"/>
              <a:gd name="connsiteY0" fmla="*/ 172383 h 1034280"/>
              <a:gd name="connsiteX1" fmla="*/ 172383 w 5000124"/>
              <a:gd name="connsiteY1" fmla="*/ 0 h 1034280"/>
              <a:gd name="connsiteX2" fmla="*/ 4827741 w 5000124"/>
              <a:gd name="connsiteY2" fmla="*/ 0 h 1034280"/>
              <a:gd name="connsiteX3" fmla="*/ 5000124 w 5000124"/>
              <a:gd name="connsiteY3" fmla="*/ 172383 h 1034280"/>
              <a:gd name="connsiteX4" fmla="*/ 5000124 w 5000124"/>
              <a:gd name="connsiteY4" fmla="*/ 861897 h 1034280"/>
              <a:gd name="connsiteX5" fmla="*/ 4827741 w 5000124"/>
              <a:gd name="connsiteY5" fmla="*/ 1034280 h 1034280"/>
              <a:gd name="connsiteX6" fmla="*/ 172383 w 5000124"/>
              <a:gd name="connsiteY6" fmla="*/ 1034280 h 1034280"/>
              <a:gd name="connsiteX7" fmla="*/ 0 w 5000124"/>
              <a:gd name="connsiteY7" fmla="*/ 861897 h 1034280"/>
              <a:gd name="connsiteX8" fmla="*/ 0 w 5000124"/>
              <a:gd name="connsiteY8" fmla="*/ 172383 h 103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0124" h="1034280">
                <a:moveTo>
                  <a:pt x="0" y="172383"/>
                </a:moveTo>
                <a:cubicBezTo>
                  <a:pt x="0" y="77178"/>
                  <a:pt x="77178" y="0"/>
                  <a:pt x="172383" y="0"/>
                </a:cubicBezTo>
                <a:lnTo>
                  <a:pt x="4827741" y="0"/>
                </a:lnTo>
                <a:cubicBezTo>
                  <a:pt x="4922946" y="0"/>
                  <a:pt x="5000124" y="77178"/>
                  <a:pt x="5000124" y="172383"/>
                </a:cubicBezTo>
                <a:lnTo>
                  <a:pt x="5000124" y="861897"/>
                </a:lnTo>
                <a:cubicBezTo>
                  <a:pt x="5000124" y="957102"/>
                  <a:pt x="4922946" y="1034280"/>
                  <a:pt x="4827741" y="1034280"/>
                </a:cubicBezTo>
                <a:lnTo>
                  <a:pt x="172383" y="1034280"/>
                </a:lnTo>
                <a:cubicBezTo>
                  <a:pt x="77178" y="1034280"/>
                  <a:pt x="0" y="957102"/>
                  <a:pt x="0" y="861897"/>
                </a:cubicBezTo>
                <a:lnTo>
                  <a:pt x="0" y="17238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9549" tIns="149549" rIns="149549" bIns="149549" numCol="1" spcCol="1270" anchor="ctr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600" kern="1200" dirty="0"/>
              <a:t>Definition of Social Engineering and Phishing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E0566A2-1ECD-C772-AA5D-48F927C0B8EF}"/>
              </a:ext>
            </a:extLst>
          </p:cNvPr>
          <p:cNvSpPr/>
          <p:nvPr/>
        </p:nvSpPr>
        <p:spPr>
          <a:xfrm>
            <a:off x="3678789" y="1881207"/>
            <a:ext cx="5000124" cy="1034280"/>
          </a:xfrm>
          <a:custGeom>
            <a:avLst/>
            <a:gdLst>
              <a:gd name="connsiteX0" fmla="*/ 0 w 5000124"/>
              <a:gd name="connsiteY0" fmla="*/ 172383 h 1034280"/>
              <a:gd name="connsiteX1" fmla="*/ 172383 w 5000124"/>
              <a:gd name="connsiteY1" fmla="*/ 0 h 1034280"/>
              <a:gd name="connsiteX2" fmla="*/ 4827741 w 5000124"/>
              <a:gd name="connsiteY2" fmla="*/ 0 h 1034280"/>
              <a:gd name="connsiteX3" fmla="*/ 5000124 w 5000124"/>
              <a:gd name="connsiteY3" fmla="*/ 172383 h 1034280"/>
              <a:gd name="connsiteX4" fmla="*/ 5000124 w 5000124"/>
              <a:gd name="connsiteY4" fmla="*/ 861897 h 1034280"/>
              <a:gd name="connsiteX5" fmla="*/ 4827741 w 5000124"/>
              <a:gd name="connsiteY5" fmla="*/ 1034280 h 1034280"/>
              <a:gd name="connsiteX6" fmla="*/ 172383 w 5000124"/>
              <a:gd name="connsiteY6" fmla="*/ 1034280 h 1034280"/>
              <a:gd name="connsiteX7" fmla="*/ 0 w 5000124"/>
              <a:gd name="connsiteY7" fmla="*/ 861897 h 1034280"/>
              <a:gd name="connsiteX8" fmla="*/ 0 w 5000124"/>
              <a:gd name="connsiteY8" fmla="*/ 172383 h 103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0124" h="1034280">
                <a:moveTo>
                  <a:pt x="0" y="172383"/>
                </a:moveTo>
                <a:cubicBezTo>
                  <a:pt x="0" y="77178"/>
                  <a:pt x="77178" y="0"/>
                  <a:pt x="172383" y="0"/>
                </a:cubicBezTo>
                <a:lnTo>
                  <a:pt x="4827741" y="0"/>
                </a:lnTo>
                <a:cubicBezTo>
                  <a:pt x="4922946" y="0"/>
                  <a:pt x="5000124" y="77178"/>
                  <a:pt x="5000124" y="172383"/>
                </a:cubicBezTo>
                <a:lnTo>
                  <a:pt x="5000124" y="861897"/>
                </a:lnTo>
                <a:cubicBezTo>
                  <a:pt x="5000124" y="957102"/>
                  <a:pt x="4922946" y="1034280"/>
                  <a:pt x="4827741" y="1034280"/>
                </a:cubicBezTo>
                <a:lnTo>
                  <a:pt x="172383" y="1034280"/>
                </a:lnTo>
                <a:cubicBezTo>
                  <a:pt x="77178" y="1034280"/>
                  <a:pt x="0" y="957102"/>
                  <a:pt x="0" y="861897"/>
                </a:cubicBezTo>
                <a:lnTo>
                  <a:pt x="0" y="17238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9549" tIns="149549" rIns="149549" bIns="149549" numCol="1" spcCol="1270" anchor="ctr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600" kern="1200" dirty="0"/>
              <a:t>Why This is a Risk to Wayne Enterprise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5DA9E7D-8F13-9273-16CE-053DAD59B6AF}"/>
              </a:ext>
            </a:extLst>
          </p:cNvPr>
          <p:cNvSpPr/>
          <p:nvPr/>
        </p:nvSpPr>
        <p:spPr>
          <a:xfrm>
            <a:off x="3678789" y="2990367"/>
            <a:ext cx="5000124" cy="974064"/>
          </a:xfrm>
          <a:custGeom>
            <a:avLst/>
            <a:gdLst>
              <a:gd name="connsiteX0" fmla="*/ 0 w 5000124"/>
              <a:gd name="connsiteY0" fmla="*/ 162347 h 974064"/>
              <a:gd name="connsiteX1" fmla="*/ 162347 w 5000124"/>
              <a:gd name="connsiteY1" fmla="*/ 0 h 974064"/>
              <a:gd name="connsiteX2" fmla="*/ 4837777 w 5000124"/>
              <a:gd name="connsiteY2" fmla="*/ 0 h 974064"/>
              <a:gd name="connsiteX3" fmla="*/ 5000124 w 5000124"/>
              <a:gd name="connsiteY3" fmla="*/ 162347 h 974064"/>
              <a:gd name="connsiteX4" fmla="*/ 5000124 w 5000124"/>
              <a:gd name="connsiteY4" fmla="*/ 811717 h 974064"/>
              <a:gd name="connsiteX5" fmla="*/ 4837777 w 5000124"/>
              <a:gd name="connsiteY5" fmla="*/ 974064 h 974064"/>
              <a:gd name="connsiteX6" fmla="*/ 162347 w 5000124"/>
              <a:gd name="connsiteY6" fmla="*/ 974064 h 974064"/>
              <a:gd name="connsiteX7" fmla="*/ 0 w 5000124"/>
              <a:gd name="connsiteY7" fmla="*/ 811717 h 974064"/>
              <a:gd name="connsiteX8" fmla="*/ 0 w 5000124"/>
              <a:gd name="connsiteY8" fmla="*/ 162347 h 97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0124" h="974064">
                <a:moveTo>
                  <a:pt x="0" y="162347"/>
                </a:moveTo>
                <a:cubicBezTo>
                  <a:pt x="0" y="72685"/>
                  <a:pt x="72685" y="0"/>
                  <a:pt x="162347" y="0"/>
                </a:cubicBezTo>
                <a:lnTo>
                  <a:pt x="4837777" y="0"/>
                </a:lnTo>
                <a:cubicBezTo>
                  <a:pt x="4927439" y="0"/>
                  <a:pt x="5000124" y="72685"/>
                  <a:pt x="5000124" y="162347"/>
                </a:cubicBezTo>
                <a:lnTo>
                  <a:pt x="5000124" y="811717"/>
                </a:lnTo>
                <a:cubicBezTo>
                  <a:pt x="5000124" y="901379"/>
                  <a:pt x="4927439" y="974064"/>
                  <a:pt x="4837777" y="974064"/>
                </a:cubicBezTo>
                <a:lnTo>
                  <a:pt x="162347" y="974064"/>
                </a:lnTo>
                <a:cubicBezTo>
                  <a:pt x="72685" y="974064"/>
                  <a:pt x="0" y="901379"/>
                  <a:pt x="0" y="811717"/>
                </a:cubicBezTo>
                <a:lnTo>
                  <a:pt x="0" y="16234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6610" tIns="146610" rIns="146610" bIns="146610" numCol="1" spcCol="1270" anchor="ctr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600" kern="1200" dirty="0"/>
              <a:t>Realistic Examples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522D82-6730-566F-DEDF-CDEBB4563066}"/>
              </a:ext>
            </a:extLst>
          </p:cNvPr>
          <p:cNvSpPr/>
          <p:nvPr/>
        </p:nvSpPr>
        <p:spPr>
          <a:xfrm>
            <a:off x="3678789" y="4039312"/>
            <a:ext cx="5000124" cy="1034280"/>
          </a:xfrm>
          <a:custGeom>
            <a:avLst/>
            <a:gdLst>
              <a:gd name="connsiteX0" fmla="*/ 0 w 5000124"/>
              <a:gd name="connsiteY0" fmla="*/ 172383 h 1034280"/>
              <a:gd name="connsiteX1" fmla="*/ 172383 w 5000124"/>
              <a:gd name="connsiteY1" fmla="*/ 0 h 1034280"/>
              <a:gd name="connsiteX2" fmla="*/ 4827741 w 5000124"/>
              <a:gd name="connsiteY2" fmla="*/ 0 h 1034280"/>
              <a:gd name="connsiteX3" fmla="*/ 5000124 w 5000124"/>
              <a:gd name="connsiteY3" fmla="*/ 172383 h 1034280"/>
              <a:gd name="connsiteX4" fmla="*/ 5000124 w 5000124"/>
              <a:gd name="connsiteY4" fmla="*/ 861897 h 1034280"/>
              <a:gd name="connsiteX5" fmla="*/ 4827741 w 5000124"/>
              <a:gd name="connsiteY5" fmla="*/ 1034280 h 1034280"/>
              <a:gd name="connsiteX6" fmla="*/ 172383 w 5000124"/>
              <a:gd name="connsiteY6" fmla="*/ 1034280 h 1034280"/>
              <a:gd name="connsiteX7" fmla="*/ 0 w 5000124"/>
              <a:gd name="connsiteY7" fmla="*/ 861897 h 1034280"/>
              <a:gd name="connsiteX8" fmla="*/ 0 w 5000124"/>
              <a:gd name="connsiteY8" fmla="*/ 172383 h 103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0124" h="1034280">
                <a:moveTo>
                  <a:pt x="0" y="172383"/>
                </a:moveTo>
                <a:cubicBezTo>
                  <a:pt x="0" y="77178"/>
                  <a:pt x="77178" y="0"/>
                  <a:pt x="172383" y="0"/>
                </a:cubicBezTo>
                <a:lnTo>
                  <a:pt x="4827741" y="0"/>
                </a:lnTo>
                <a:cubicBezTo>
                  <a:pt x="4922946" y="0"/>
                  <a:pt x="5000124" y="77178"/>
                  <a:pt x="5000124" y="172383"/>
                </a:cubicBezTo>
                <a:lnTo>
                  <a:pt x="5000124" y="861897"/>
                </a:lnTo>
                <a:cubicBezTo>
                  <a:pt x="5000124" y="957102"/>
                  <a:pt x="4922946" y="1034280"/>
                  <a:pt x="4827741" y="1034280"/>
                </a:cubicBezTo>
                <a:lnTo>
                  <a:pt x="172383" y="1034280"/>
                </a:lnTo>
                <a:cubicBezTo>
                  <a:pt x="77178" y="1034280"/>
                  <a:pt x="0" y="957102"/>
                  <a:pt x="0" y="861897"/>
                </a:cubicBezTo>
                <a:lnTo>
                  <a:pt x="0" y="17238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9549" tIns="149549" rIns="149549" bIns="149549" numCol="1" spcCol="1270" anchor="ctr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600" kern="1200" dirty="0"/>
              <a:t>Consequences of Falling Victim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D255160-ADDA-AE36-4AFB-275F344FE425}"/>
              </a:ext>
            </a:extLst>
          </p:cNvPr>
          <p:cNvSpPr/>
          <p:nvPr/>
        </p:nvSpPr>
        <p:spPr>
          <a:xfrm>
            <a:off x="3678789" y="5148472"/>
            <a:ext cx="5000124" cy="1034280"/>
          </a:xfrm>
          <a:custGeom>
            <a:avLst/>
            <a:gdLst>
              <a:gd name="connsiteX0" fmla="*/ 0 w 5000124"/>
              <a:gd name="connsiteY0" fmla="*/ 172383 h 1034280"/>
              <a:gd name="connsiteX1" fmla="*/ 172383 w 5000124"/>
              <a:gd name="connsiteY1" fmla="*/ 0 h 1034280"/>
              <a:gd name="connsiteX2" fmla="*/ 4827741 w 5000124"/>
              <a:gd name="connsiteY2" fmla="*/ 0 h 1034280"/>
              <a:gd name="connsiteX3" fmla="*/ 5000124 w 5000124"/>
              <a:gd name="connsiteY3" fmla="*/ 172383 h 1034280"/>
              <a:gd name="connsiteX4" fmla="*/ 5000124 w 5000124"/>
              <a:gd name="connsiteY4" fmla="*/ 861897 h 1034280"/>
              <a:gd name="connsiteX5" fmla="*/ 4827741 w 5000124"/>
              <a:gd name="connsiteY5" fmla="*/ 1034280 h 1034280"/>
              <a:gd name="connsiteX6" fmla="*/ 172383 w 5000124"/>
              <a:gd name="connsiteY6" fmla="*/ 1034280 h 1034280"/>
              <a:gd name="connsiteX7" fmla="*/ 0 w 5000124"/>
              <a:gd name="connsiteY7" fmla="*/ 861897 h 1034280"/>
              <a:gd name="connsiteX8" fmla="*/ 0 w 5000124"/>
              <a:gd name="connsiteY8" fmla="*/ 172383 h 103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0124" h="1034280">
                <a:moveTo>
                  <a:pt x="0" y="172383"/>
                </a:moveTo>
                <a:cubicBezTo>
                  <a:pt x="0" y="77178"/>
                  <a:pt x="77178" y="0"/>
                  <a:pt x="172383" y="0"/>
                </a:cubicBezTo>
                <a:lnTo>
                  <a:pt x="4827741" y="0"/>
                </a:lnTo>
                <a:cubicBezTo>
                  <a:pt x="4922946" y="0"/>
                  <a:pt x="5000124" y="77178"/>
                  <a:pt x="5000124" y="172383"/>
                </a:cubicBezTo>
                <a:lnTo>
                  <a:pt x="5000124" y="861897"/>
                </a:lnTo>
                <a:cubicBezTo>
                  <a:pt x="5000124" y="957102"/>
                  <a:pt x="4922946" y="1034280"/>
                  <a:pt x="4827741" y="1034280"/>
                </a:cubicBezTo>
                <a:lnTo>
                  <a:pt x="172383" y="1034280"/>
                </a:lnTo>
                <a:cubicBezTo>
                  <a:pt x="77178" y="1034280"/>
                  <a:pt x="0" y="957102"/>
                  <a:pt x="0" y="861897"/>
                </a:cubicBezTo>
                <a:lnTo>
                  <a:pt x="0" y="17238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9549" tIns="149549" rIns="149549" bIns="149549" numCol="1" spcCol="1270" anchor="ctr" anchorCtr="0">
            <a:noAutofit/>
          </a:bodyPr>
          <a:lstStyle/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600" kern="1200" dirty="0"/>
              <a:t>Best Practices and Mitigations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8" y="476864"/>
            <a:ext cx="5098906" cy="639098"/>
          </a:xfrm>
        </p:spPr>
        <p:txBody>
          <a:bodyPr anchor="b">
            <a:normAutofit/>
          </a:bodyPr>
          <a:lstStyle/>
          <a:p>
            <a:r>
              <a:rPr lang="en-CA" sz="3500" dirty="0"/>
              <a:t>Topic Overview</a:t>
            </a:r>
          </a:p>
        </p:txBody>
      </p:sp>
      <p:pic>
        <p:nvPicPr>
          <p:cNvPr id="21" name="Picture 20" descr="A blue background with white dots&#10;&#10;AI-generated content may be incorrect.">
            <a:extLst>
              <a:ext uri="{FF2B5EF4-FFF2-40B4-BE49-F238E27FC236}">
                <a16:creationId xmlns:a16="http://schemas.microsoft.com/office/drawing/2014/main" id="{A16F91DD-9AB9-8E24-7DF5-1635185C1A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45" r="33740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08864C9-B9C0-066D-C96B-52E2566707F4}"/>
              </a:ext>
            </a:extLst>
          </p:cNvPr>
          <p:cNvSpPr/>
          <p:nvPr/>
        </p:nvSpPr>
        <p:spPr>
          <a:xfrm>
            <a:off x="3415300" y="1592826"/>
            <a:ext cx="4079123" cy="994888"/>
          </a:xfrm>
          <a:custGeom>
            <a:avLst/>
            <a:gdLst>
              <a:gd name="connsiteX0" fmla="*/ 0 w 4079123"/>
              <a:gd name="connsiteY0" fmla="*/ 99489 h 994888"/>
              <a:gd name="connsiteX1" fmla="*/ 99489 w 4079123"/>
              <a:gd name="connsiteY1" fmla="*/ 0 h 994888"/>
              <a:gd name="connsiteX2" fmla="*/ 3979634 w 4079123"/>
              <a:gd name="connsiteY2" fmla="*/ 0 h 994888"/>
              <a:gd name="connsiteX3" fmla="*/ 4079123 w 4079123"/>
              <a:gd name="connsiteY3" fmla="*/ 99489 h 994888"/>
              <a:gd name="connsiteX4" fmla="*/ 4079123 w 4079123"/>
              <a:gd name="connsiteY4" fmla="*/ 895399 h 994888"/>
              <a:gd name="connsiteX5" fmla="*/ 3979634 w 4079123"/>
              <a:gd name="connsiteY5" fmla="*/ 994888 h 994888"/>
              <a:gd name="connsiteX6" fmla="*/ 99489 w 4079123"/>
              <a:gd name="connsiteY6" fmla="*/ 994888 h 994888"/>
              <a:gd name="connsiteX7" fmla="*/ 0 w 4079123"/>
              <a:gd name="connsiteY7" fmla="*/ 895399 h 994888"/>
              <a:gd name="connsiteX8" fmla="*/ 0 w 4079123"/>
              <a:gd name="connsiteY8" fmla="*/ 99489 h 994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79123" h="994888">
                <a:moveTo>
                  <a:pt x="0" y="99489"/>
                </a:moveTo>
                <a:cubicBezTo>
                  <a:pt x="0" y="44543"/>
                  <a:pt x="44543" y="0"/>
                  <a:pt x="99489" y="0"/>
                </a:cubicBezTo>
                <a:lnTo>
                  <a:pt x="3979634" y="0"/>
                </a:lnTo>
                <a:cubicBezTo>
                  <a:pt x="4034580" y="0"/>
                  <a:pt x="4079123" y="44543"/>
                  <a:pt x="4079123" y="99489"/>
                </a:cubicBezTo>
                <a:lnTo>
                  <a:pt x="4079123" y="895399"/>
                </a:lnTo>
                <a:cubicBezTo>
                  <a:pt x="4079123" y="950345"/>
                  <a:pt x="4034580" y="994888"/>
                  <a:pt x="3979634" y="994888"/>
                </a:cubicBezTo>
                <a:lnTo>
                  <a:pt x="99489" y="994888"/>
                </a:lnTo>
                <a:cubicBezTo>
                  <a:pt x="44543" y="994888"/>
                  <a:pt x="0" y="950345"/>
                  <a:pt x="0" y="895399"/>
                </a:cubicBezTo>
                <a:lnTo>
                  <a:pt x="0" y="9948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7719" tIns="97719" rIns="1197071" bIns="97719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>
                <a:solidFill>
                  <a:schemeClr val="tx1"/>
                </a:solidFill>
              </a:rPr>
              <a:t>Social Engineering: Manipulating individuals to gain confidential information.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1575F3A-6825-167F-0A47-849655169DF2}"/>
              </a:ext>
            </a:extLst>
          </p:cNvPr>
          <p:cNvSpPr/>
          <p:nvPr/>
        </p:nvSpPr>
        <p:spPr>
          <a:xfrm>
            <a:off x="3756926" y="2768603"/>
            <a:ext cx="4079123" cy="994888"/>
          </a:xfrm>
          <a:custGeom>
            <a:avLst/>
            <a:gdLst>
              <a:gd name="connsiteX0" fmla="*/ 0 w 4079123"/>
              <a:gd name="connsiteY0" fmla="*/ 99489 h 994888"/>
              <a:gd name="connsiteX1" fmla="*/ 99489 w 4079123"/>
              <a:gd name="connsiteY1" fmla="*/ 0 h 994888"/>
              <a:gd name="connsiteX2" fmla="*/ 3979634 w 4079123"/>
              <a:gd name="connsiteY2" fmla="*/ 0 h 994888"/>
              <a:gd name="connsiteX3" fmla="*/ 4079123 w 4079123"/>
              <a:gd name="connsiteY3" fmla="*/ 99489 h 994888"/>
              <a:gd name="connsiteX4" fmla="*/ 4079123 w 4079123"/>
              <a:gd name="connsiteY4" fmla="*/ 895399 h 994888"/>
              <a:gd name="connsiteX5" fmla="*/ 3979634 w 4079123"/>
              <a:gd name="connsiteY5" fmla="*/ 994888 h 994888"/>
              <a:gd name="connsiteX6" fmla="*/ 99489 w 4079123"/>
              <a:gd name="connsiteY6" fmla="*/ 994888 h 994888"/>
              <a:gd name="connsiteX7" fmla="*/ 0 w 4079123"/>
              <a:gd name="connsiteY7" fmla="*/ 895399 h 994888"/>
              <a:gd name="connsiteX8" fmla="*/ 0 w 4079123"/>
              <a:gd name="connsiteY8" fmla="*/ 99489 h 994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79123" h="994888">
                <a:moveTo>
                  <a:pt x="0" y="99489"/>
                </a:moveTo>
                <a:cubicBezTo>
                  <a:pt x="0" y="44543"/>
                  <a:pt x="44543" y="0"/>
                  <a:pt x="99489" y="0"/>
                </a:cubicBezTo>
                <a:lnTo>
                  <a:pt x="3979634" y="0"/>
                </a:lnTo>
                <a:cubicBezTo>
                  <a:pt x="4034580" y="0"/>
                  <a:pt x="4079123" y="44543"/>
                  <a:pt x="4079123" y="99489"/>
                </a:cubicBezTo>
                <a:lnTo>
                  <a:pt x="4079123" y="895399"/>
                </a:lnTo>
                <a:cubicBezTo>
                  <a:pt x="4079123" y="950345"/>
                  <a:pt x="4034580" y="994888"/>
                  <a:pt x="3979634" y="994888"/>
                </a:cubicBezTo>
                <a:lnTo>
                  <a:pt x="99489" y="994888"/>
                </a:lnTo>
                <a:cubicBezTo>
                  <a:pt x="44543" y="994888"/>
                  <a:pt x="0" y="950345"/>
                  <a:pt x="0" y="895399"/>
                </a:cubicBezTo>
                <a:lnTo>
                  <a:pt x="0" y="9948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1560506"/>
              <a:satOff val="-1946"/>
              <a:lumOff val="458"/>
              <a:alphaOff val="0"/>
            </a:schemeClr>
          </a:fillRef>
          <a:effectRef idx="2">
            <a:schemeClr val="accent2">
              <a:hueOff val="1560506"/>
              <a:satOff val="-1946"/>
              <a:lumOff val="45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7719" tIns="97719" rIns="1086024" bIns="97719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>
                <a:solidFill>
                  <a:schemeClr val="tx1"/>
                </a:solidFill>
              </a:rPr>
              <a:t>Phishing: Fraudulent emails to steal credentials.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E69E88-34FB-3C7C-C58D-9744EE6B0859}"/>
              </a:ext>
            </a:extLst>
          </p:cNvPr>
          <p:cNvSpPr/>
          <p:nvPr/>
        </p:nvSpPr>
        <p:spPr>
          <a:xfrm>
            <a:off x="4093454" y="3944381"/>
            <a:ext cx="4079123" cy="994888"/>
          </a:xfrm>
          <a:custGeom>
            <a:avLst/>
            <a:gdLst>
              <a:gd name="connsiteX0" fmla="*/ 0 w 4079123"/>
              <a:gd name="connsiteY0" fmla="*/ 99489 h 994888"/>
              <a:gd name="connsiteX1" fmla="*/ 99489 w 4079123"/>
              <a:gd name="connsiteY1" fmla="*/ 0 h 994888"/>
              <a:gd name="connsiteX2" fmla="*/ 3979634 w 4079123"/>
              <a:gd name="connsiteY2" fmla="*/ 0 h 994888"/>
              <a:gd name="connsiteX3" fmla="*/ 4079123 w 4079123"/>
              <a:gd name="connsiteY3" fmla="*/ 99489 h 994888"/>
              <a:gd name="connsiteX4" fmla="*/ 4079123 w 4079123"/>
              <a:gd name="connsiteY4" fmla="*/ 895399 h 994888"/>
              <a:gd name="connsiteX5" fmla="*/ 3979634 w 4079123"/>
              <a:gd name="connsiteY5" fmla="*/ 994888 h 994888"/>
              <a:gd name="connsiteX6" fmla="*/ 99489 w 4079123"/>
              <a:gd name="connsiteY6" fmla="*/ 994888 h 994888"/>
              <a:gd name="connsiteX7" fmla="*/ 0 w 4079123"/>
              <a:gd name="connsiteY7" fmla="*/ 895399 h 994888"/>
              <a:gd name="connsiteX8" fmla="*/ 0 w 4079123"/>
              <a:gd name="connsiteY8" fmla="*/ 99489 h 994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79123" h="994888">
                <a:moveTo>
                  <a:pt x="0" y="99489"/>
                </a:moveTo>
                <a:cubicBezTo>
                  <a:pt x="0" y="44543"/>
                  <a:pt x="44543" y="0"/>
                  <a:pt x="99489" y="0"/>
                </a:cubicBezTo>
                <a:lnTo>
                  <a:pt x="3979634" y="0"/>
                </a:lnTo>
                <a:cubicBezTo>
                  <a:pt x="4034580" y="0"/>
                  <a:pt x="4079123" y="44543"/>
                  <a:pt x="4079123" y="99489"/>
                </a:cubicBezTo>
                <a:lnTo>
                  <a:pt x="4079123" y="895399"/>
                </a:lnTo>
                <a:cubicBezTo>
                  <a:pt x="4079123" y="950345"/>
                  <a:pt x="4034580" y="994888"/>
                  <a:pt x="3979634" y="994888"/>
                </a:cubicBezTo>
                <a:lnTo>
                  <a:pt x="99489" y="994888"/>
                </a:lnTo>
                <a:cubicBezTo>
                  <a:pt x="44543" y="994888"/>
                  <a:pt x="0" y="950345"/>
                  <a:pt x="0" y="895399"/>
                </a:cubicBezTo>
                <a:lnTo>
                  <a:pt x="0" y="9948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3121013"/>
              <a:satOff val="-3893"/>
              <a:lumOff val="915"/>
              <a:alphaOff val="0"/>
            </a:schemeClr>
          </a:fillRef>
          <a:effectRef idx="2">
            <a:schemeClr val="accent2">
              <a:hueOff val="3121013"/>
              <a:satOff val="-3893"/>
              <a:lumOff val="9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7719" tIns="97719" rIns="1080925" bIns="97719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>
                <a:solidFill>
                  <a:schemeClr val="tx1"/>
                </a:solidFill>
              </a:rPr>
              <a:t>Vishing: Voice phishing via phone calls.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89F0AA-34D0-1D80-3348-BF5F4C72C1CB}"/>
              </a:ext>
            </a:extLst>
          </p:cNvPr>
          <p:cNvSpPr/>
          <p:nvPr/>
        </p:nvSpPr>
        <p:spPr>
          <a:xfrm>
            <a:off x="4435080" y="5120159"/>
            <a:ext cx="4079123" cy="994888"/>
          </a:xfrm>
          <a:custGeom>
            <a:avLst/>
            <a:gdLst>
              <a:gd name="connsiteX0" fmla="*/ 0 w 4079123"/>
              <a:gd name="connsiteY0" fmla="*/ 99489 h 994888"/>
              <a:gd name="connsiteX1" fmla="*/ 99489 w 4079123"/>
              <a:gd name="connsiteY1" fmla="*/ 0 h 994888"/>
              <a:gd name="connsiteX2" fmla="*/ 3979634 w 4079123"/>
              <a:gd name="connsiteY2" fmla="*/ 0 h 994888"/>
              <a:gd name="connsiteX3" fmla="*/ 4079123 w 4079123"/>
              <a:gd name="connsiteY3" fmla="*/ 99489 h 994888"/>
              <a:gd name="connsiteX4" fmla="*/ 4079123 w 4079123"/>
              <a:gd name="connsiteY4" fmla="*/ 895399 h 994888"/>
              <a:gd name="connsiteX5" fmla="*/ 3979634 w 4079123"/>
              <a:gd name="connsiteY5" fmla="*/ 994888 h 994888"/>
              <a:gd name="connsiteX6" fmla="*/ 99489 w 4079123"/>
              <a:gd name="connsiteY6" fmla="*/ 994888 h 994888"/>
              <a:gd name="connsiteX7" fmla="*/ 0 w 4079123"/>
              <a:gd name="connsiteY7" fmla="*/ 895399 h 994888"/>
              <a:gd name="connsiteX8" fmla="*/ 0 w 4079123"/>
              <a:gd name="connsiteY8" fmla="*/ 99489 h 994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79123" h="994888">
                <a:moveTo>
                  <a:pt x="0" y="99489"/>
                </a:moveTo>
                <a:cubicBezTo>
                  <a:pt x="0" y="44543"/>
                  <a:pt x="44543" y="0"/>
                  <a:pt x="99489" y="0"/>
                </a:cubicBezTo>
                <a:lnTo>
                  <a:pt x="3979634" y="0"/>
                </a:lnTo>
                <a:cubicBezTo>
                  <a:pt x="4034580" y="0"/>
                  <a:pt x="4079123" y="44543"/>
                  <a:pt x="4079123" y="99489"/>
                </a:cubicBezTo>
                <a:lnTo>
                  <a:pt x="4079123" y="895399"/>
                </a:lnTo>
                <a:cubicBezTo>
                  <a:pt x="4079123" y="950345"/>
                  <a:pt x="4034580" y="994888"/>
                  <a:pt x="3979634" y="994888"/>
                </a:cubicBezTo>
                <a:lnTo>
                  <a:pt x="99489" y="994888"/>
                </a:lnTo>
                <a:cubicBezTo>
                  <a:pt x="44543" y="994888"/>
                  <a:pt x="0" y="950345"/>
                  <a:pt x="0" y="895399"/>
                </a:cubicBezTo>
                <a:lnTo>
                  <a:pt x="0" y="9948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4681519"/>
              <a:satOff val="-5839"/>
              <a:lumOff val="1373"/>
              <a:alphaOff val="0"/>
            </a:schemeClr>
          </a:fillRef>
          <a:effectRef idx="2">
            <a:schemeClr val="accent2">
              <a:hueOff val="4681519"/>
              <a:satOff val="-5839"/>
              <a:lumOff val="137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7719" tIns="97719" rIns="1086024" bIns="97719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>
                <a:solidFill>
                  <a:schemeClr val="tx1"/>
                </a:solidFill>
              </a:rPr>
              <a:t>Smishing: SMS-based phishing attacks.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0AFD9-36B5-4B86-C18E-8CD2EFC6095B}"/>
              </a:ext>
            </a:extLst>
          </p:cNvPr>
          <p:cNvSpPr/>
          <p:nvPr/>
        </p:nvSpPr>
        <p:spPr>
          <a:xfrm>
            <a:off x="6847745" y="2354820"/>
            <a:ext cx="646677" cy="646677"/>
          </a:xfrm>
          <a:custGeom>
            <a:avLst/>
            <a:gdLst>
              <a:gd name="connsiteX0" fmla="*/ 0 w 646677"/>
              <a:gd name="connsiteY0" fmla="*/ 355672 h 646677"/>
              <a:gd name="connsiteX1" fmla="*/ 145502 w 646677"/>
              <a:gd name="connsiteY1" fmla="*/ 355672 h 646677"/>
              <a:gd name="connsiteX2" fmla="*/ 145502 w 646677"/>
              <a:gd name="connsiteY2" fmla="*/ 0 h 646677"/>
              <a:gd name="connsiteX3" fmla="*/ 501175 w 646677"/>
              <a:gd name="connsiteY3" fmla="*/ 0 h 646677"/>
              <a:gd name="connsiteX4" fmla="*/ 501175 w 646677"/>
              <a:gd name="connsiteY4" fmla="*/ 355672 h 646677"/>
              <a:gd name="connsiteX5" fmla="*/ 646677 w 646677"/>
              <a:gd name="connsiteY5" fmla="*/ 355672 h 646677"/>
              <a:gd name="connsiteX6" fmla="*/ 323339 w 646677"/>
              <a:gd name="connsiteY6" fmla="*/ 646677 h 646677"/>
              <a:gd name="connsiteX7" fmla="*/ 0 w 646677"/>
              <a:gd name="connsiteY7" fmla="*/ 355672 h 646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6677" h="646677">
                <a:moveTo>
                  <a:pt x="0" y="355672"/>
                </a:moveTo>
                <a:lnTo>
                  <a:pt x="145502" y="355672"/>
                </a:lnTo>
                <a:lnTo>
                  <a:pt x="145502" y="0"/>
                </a:lnTo>
                <a:lnTo>
                  <a:pt x="501175" y="0"/>
                </a:lnTo>
                <a:lnTo>
                  <a:pt x="501175" y="355672"/>
                </a:lnTo>
                <a:lnTo>
                  <a:pt x="646677" y="355672"/>
                </a:lnTo>
                <a:lnTo>
                  <a:pt x="323339" y="646677"/>
                </a:lnTo>
                <a:lnTo>
                  <a:pt x="0" y="355672"/>
                </a:lnTo>
                <a:close/>
              </a:path>
            </a:pathLst>
          </a:custGeom>
        </p:spPr>
        <p:style>
          <a:lnRef idx="1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332" tIns="36830" rIns="182332" bIns="196883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900" kern="12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DEC0B2D-B762-A316-A65D-CD92FA19B79D}"/>
              </a:ext>
            </a:extLst>
          </p:cNvPr>
          <p:cNvSpPr/>
          <p:nvPr/>
        </p:nvSpPr>
        <p:spPr>
          <a:xfrm>
            <a:off x="7218944" y="3533165"/>
            <a:ext cx="646677" cy="646677"/>
          </a:xfrm>
          <a:custGeom>
            <a:avLst/>
            <a:gdLst>
              <a:gd name="connsiteX0" fmla="*/ 0 w 646677"/>
              <a:gd name="connsiteY0" fmla="*/ 355672 h 646677"/>
              <a:gd name="connsiteX1" fmla="*/ 145502 w 646677"/>
              <a:gd name="connsiteY1" fmla="*/ 355672 h 646677"/>
              <a:gd name="connsiteX2" fmla="*/ 145502 w 646677"/>
              <a:gd name="connsiteY2" fmla="*/ 0 h 646677"/>
              <a:gd name="connsiteX3" fmla="*/ 501175 w 646677"/>
              <a:gd name="connsiteY3" fmla="*/ 0 h 646677"/>
              <a:gd name="connsiteX4" fmla="*/ 501175 w 646677"/>
              <a:gd name="connsiteY4" fmla="*/ 355672 h 646677"/>
              <a:gd name="connsiteX5" fmla="*/ 646677 w 646677"/>
              <a:gd name="connsiteY5" fmla="*/ 355672 h 646677"/>
              <a:gd name="connsiteX6" fmla="*/ 323339 w 646677"/>
              <a:gd name="connsiteY6" fmla="*/ 646677 h 646677"/>
              <a:gd name="connsiteX7" fmla="*/ 0 w 646677"/>
              <a:gd name="connsiteY7" fmla="*/ 355672 h 646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6677" h="646677">
                <a:moveTo>
                  <a:pt x="0" y="355672"/>
                </a:moveTo>
                <a:lnTo>
                  <a:pt x="145502" y="355672"/>
                </a:lnTo>
                <a:lnTo>
                  <a:pt x="145502" y="0"/>
                </a:lnTo>
                <a:lnTo>
                  <a:pt x="501175" y="0"/>
                </a:lnTo>
                <a:lnTo>
                  <a:pt x="501175" y="355672"/>
                </a:lnTo>
                <a:lnTo>
                  <a:pt x="646677" y="355672"/>
                </a:lnTo>
                <a:lnTo>
                  <a:pt x="323339" y="646677"/>
                </a:lnTo>
                <a:lnTo>
                  <a:pt x="0" y="355672"/>
                </a:lnTo>
                <a:close/>
              </a:path>
            </a:pathLst>
          </a:custGeom>
        </p:spPr>
        <p:style>
          <a:lnRef idx="1"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lnRef>
          <a:fillRef idx="1"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fillRef>
          <a:effectRef idx="0"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332" tIns="36830" rIns="182332" bIns="196883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900" kern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E926058-1C2E-C912-C371-0AC6FB0F47F5}"/>
              </a:ext>
            </a:extLst>
          </p:cNvPr>
          <p:cNvSpPr/>
          <p:nvPr/>
        </p:nvSpPr>
        <p:spPr>
          <a:xfrm>
            <a:off x="7525899" y="4706375"/>
            <a:ext cx="646677" cy="646677"/>
          </a:xfrm>
          <a:custGeom>
            <a:avLst/>
            <a:gdLst>
              <a:gd name="connsiteX0" fmla="*/ 0 w 646677"/>
              <a:gd name="connsiteY0" fmla="*/ 355672 h 646677"/>
              <a:gd name="connsiteX1" fmla="*/ 145502 w 646677"/>
              <a:gd name="connsiteY1" fmla="*/ 355672 h 646677"/>
              <a:gd name="connsiteX2" fmla="*/ 145502 w 646677"/>
              <a:gd name="connsiteY2" fmla="*/ 0 h 646677"/>
              <a:gd name="connsiteX3" fmla="*/ 501175 w 646677"/>
              <a:gd name="connsiteY3" fmla="*/ 0 h 646677"/>
              <a:gd name="connsiteX4" fmla="*/ 501175 w 646677"/>
              <a:gd name="connsiteY4" fmla="*/ 355672 h 646677"/>
              <a:gd name="connsiteX5" fmla="*/ 646677 w 646677"/>
              <a:gd name="connsiteY5" fmla="*/ 355672 h 646677"/>
              <a:gd name="connsiteX6" fmla="*/ 323339 w 646677"/>
              <a:gd name="connsiteY6" fmla="*/ 646677 h 646677"/>
              <a:gd name="connsiteX7" fmla="*/ 0 w 646677"/>
              <a:gd name="connsiteY7" fmla="*/ 355672 h 646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6677" h="646677">
                <a:moveTo>
                  <a:pt x="0" y="355672"/>
                </a:moveTo>
                <a:lnTo>
                  <a:pt x="145502" y="355672"/>
                </a:lnTo>
                <a:lnTo>
                  <a:pt x="145502" y="0"/>
                </a:lnTo>
                <a:lnTo>
                  <a:pt x="501175" y="0"/>
                </a:lnTo>
                <a:lnTo>
                  <a:pt x="501175" y="355672"/>
                </a:lnTo>
                <a:lnTo>
                  <a:pt x="646677" y="355672"/>
                </a:lnTo>
                <a:lnTo>
                  <a:pt x="323339" y="646677"/>
                </a:lnTo>
                <a:lnTo>
                  <a:pt x="0" y="355672"/>
                </a:lnTo>
                <a:close/>
              </a:path>
            </a:pathLst>
          </a:custGeom>
        </p:spPr>
        <p:style>
          <a:lnRef idx="1"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lnRef>
          <a:fillRef idx="1"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fillRef>
          <a:effectRef idx="0"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332" tIns="36830" rIns="182332" bIns="196883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900" kern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Organizational Context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85E380C-DF6F-97A7-7321-96287B65FBAD}"/>
              </a:ext>
            </a:extLst>
          </p:cNvPr>
          <p:cNvSpPr/>
          <p:nvPr/>
        </p:nvSpPr>
        <p:spPr>
          <a:xfrm>
            <a:off x="859477" y="3128981"/>
            <a:ext cx="1098000" cy="1098000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6" name="Rectangle 5" descr="Bullseye">
            <a:extLst>
              <a:ext uri="{FF2B5EF4-FFF2-40B4-BE49-F238E27FC236}">
                <a16:creationId xmlns:a16="http://schemas.microsoft.com/office/drawing/2014/main" id="{4A2B1868-46BE-2E45-735F-D925ABF59476}"/>
              </a:ext>
            </a:extLst>
          </p:cNvPr>
          <p:cNvSpPr/>
          <p:nvPr/>
        </p:nvSpPr>
        <p:spPr>
          <a:xfrm>
            <a:off x="1093477" y="3362981"/>
            <a:ext cx="630000" cy="630000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BE91F59-2FCA-A715-589F-7E01FA03944F}"/>
              </a:ext>
            </a:extLst>
          </p:cNvPr>
          <p:cNvSpPr/>
          <p:nvPr/>
        </p:nvSpPr>
        <p:spPr>
          <a:xfrm>
            <a:off x="508477" y="4568981"/>
            <a:ext cx="1800000" cy="720000"/>
          </a:xfrm>
          <a:custGeom>
            <a:avLst/>
            <a:gdLst>
              <a:gd name="connsiteX0" fmla="*/ 0 w 1800000"/>
              <a:gd name="connsiteY0" fmla="*/ 0 h 720000"/>
              <a:gd name="connsiteX1" fmla="*/ 1800000 w 1800000"/>
              <a:gd name="connsiteY1" fmla="*/ 0 h 720000"/>
              <a:gd name="connsiteX2" fmla="*/ 1800000 w 1800000"/>
              <a:gd name="connsiteY2" fmla="*/ 720000 h 720000"/>
              <a:gd name="connsiteX3" fmla="*/ 0 w 1800000"/>
              <a:gd name="connsiteY3" fmla="*/ 720000 h 720000"/>
              <a:gd name="connsiteX4" fmla="*/ 0 w 180000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720000">
                <a:moveTo>
                  <a:pt x="0" y="0"/>
                </a:moveTo>
                <a:lnTo>
                  <a:pt x="1800000" y="0"/>
                </a:lnTo>
                <a:lnTo>
                  <a:pt x="180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accent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accen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accent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n-US" sz="1200" kern="1200" dirty="0"/>
              <a:t>Wayne Enterprise employees are prime targets for attackers.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4F56B4B4-27C7-8E48-4ACA-01D30017DF91}"/>
              </a:ext>
            </a:extLst>
          </p:cNvPr>
          <p:cNvSpPr/>
          <p:nvPr/>
        </p:nvSpPr>
        <p:spPr>
          <a:xfrm>
            <a:off x="2974477" y="3128981"/>
            <a:ext cx="1098000" cy="1098000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0" name="Rectangle 9" descr="Email">
            <a:extLst>
              <a:ext uri="{FF2B5EF4-FFF2-40B4-BE49-F238E27FC236}">
                <a16:creationId xmlns:a16="http://schemas.microsoft.com/office/drawing/2014/main" id="{22F283F1-D642-87D5-6C59-490F0F2A93CD}"/>
              </a:ext>
            </a:extLst>
          </p:cNvPr>
          <p:cNvSpPr/>
          <p:nvPr/>
        </p:nvSpPr>
        <p:spPr>
          <a:xfrm>
            <a:off x="3208477" y="3362981"/>
            <a:ext cx="630000" cy="63000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24B5E84-DCAC-721C-5744-F0D34F3905D3}"/>
              </a:ext>
            </a:extLst>
          </p:cNvPr>
          <p:cNvSpPr/>
          <p:nvPr/>
        </p:nvSpPr>
        <p:spPr>
          <a:xfrm>
            <a:off x="2623477" y="4568981"/>
            <a:ext cx="1800000" cy="720000"/>
          </a:xfrm>
          <a:custGeom>
            <a:avLst/>
            <a:gdLst>
              <a:gd name="connsiteX0" fmla="*/ 0 w 1800000"/>
              <a:gd name="connsiteY0" fmla="*/ 0 h 720000"/>
              <a:gd name="connsiteX1" fmla="*/ 1800000 w 1800000"/>
              <a:gd name="connsiteY1" fmla="*/ 0 h 720000"/>
              <a:gd name="connsiteX2" fmla="*/ 1800000 w 1800000"/>
              <a:gd name="connsiteY2" fmla="*/ 720000 h 720000"/>
              <a:gd name="connsiteX3" fmla="*/ 0 w 1800000"/>
              <a:gd name="connsiteY3" fmla="*/ 720000 h 720000"/>
              <a:gd name="connsiteX4" fmla="*/ 0 w 180000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720000">
                <a:moveTo>
                  <a:pt x="0" y="0"/>
                </a:moveTo>
                <a:lnTo>
                  <a:pt x="1800000" y="0"/>
                </a:lnTo>
                <a:lnTo>
                  <a:pt x="180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accent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accen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accent3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n-US" sz="1200" kern="1200"/>
              <a:t>Phishing emails can compromise sensitive corporate data.</a:t>
            </a: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0FDC7CE9-C714-7A6C-5339-3E428BC34815}"/>
              </a:ext>
            </a:extLst>
          </p:cNvPr>
          <p:cNvSpPr/>
          <p:nvPr/>
        </p:nvSpPr>
        <p:spPr>
          <a:xfrm>
            <a:off x="5089477" y="3128981"/>
            <a:ext cx="1098000" cy="1098000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6" name="Rectangle 15" descr="Processor">
            <a:extLst>
              <a:ext uri="{FF2B5EF4-FFF2-40B4-BE49-F238E27FC236}">
                <a16:creationId xmlns:a16="http://schemas.microsoft.com/office/drawing/2014/main" id="{3A38500B-734F-24AE-EBE4-9FF672EBC7EA}"/>
              </a:ext>
            </a:extLst>
          </p:cNvPr>
          <p:cNvSpPr/>
          <p:nvPr/>
        </p:nvSpPr>
        <p:spPr>
          <a:xfrm>
            <a:off x="5323477" y="3362981"/>
            <a:ext cx="630000" cy="63000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43BC6D5-16BA-D68D-313F-D7AB88DC5269}"/>
              </a:ext>
            </a:extLst>
          </p:cNvPr>
          <p:cNvSpPr/>
          <p:nvPr/>
        </p:nvSpPr>
        <p:spPr>
          <a:xfrm>
            <a:off x="4738477" y="4568981"/>
            <a:ext cx="1800000" cy="720000"/>
          </a:xfrm>
          <a:custGeom>
            <a:avLst/>
            <a:gdLst>
              <a:gd name="connsiteX0" fmla="*/ 0 w 1800000"/>
              <a:gd name="connsiteY0" fmla="*/ 0 h 720000"/>
              <a:gd name="connsiteX1" fmla="*/ 1800000 w 1800000"/>
              <a:gd name="connsiteY1" fmla="*/ 0 h 720000"/>
              <a:gd name="connsiteX2" fmla="*/ 1800000 w 1800000"/>
              <a:gd name="connsiteY2" fmla="*/ 720000 h 720000"/>
              <a:gd name="connsiteX3" fmla="*/ 0 w 1800000"/>
              <a:gd name="connsiteY3" fmla="*/ 720000 h 720000"/>
              <a:gd name="connsiteX4" fmla="*/ 0 w 180000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720000">
                <a:moveTo>
                  <a:pt x="0" y="0"/>
                </a:moveTo>
                <a:lnTo>
                  <a:pt x="1800000" y="0"/>
                </a:lnTo>
                <a:lnTo>
                  <a:pt x="180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accent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accen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accent4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n-US" sz="1200" kern="1200"/>
              <a:t>Phone scams (vishing) may trick employees into revealing passwords.</a:t>
            </a: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D2B30875-AB49-FA55-926D-15F6DB38CBA6}"/>
              </a:ext>
            </a:extLst>
          </p:cNvPr>
          <p:cNvSpPr/>
          <p:nvPr/>
        </p:nvSpPr>
        <p:spPr>
          <a:xfrm>
            <a:off x="7204477" y="3128981"/>
            <a:ext cx="1098000" cy="1098000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CA"/>
          </a:p>
        </p:txBody>
      </p:sp>
      <p:sp>
        <p:nvSpPr>
          <p:cNvPr id="19" name="Rectangle 18" descr="Syncing Cloud">
            <a:extLst>
              <a:ext uri="{FF2B5EF4-FFF2-40B4-BE49-F238E27FC236}">
                <a16:creationId xmlns:a16="http://schemas.microsoft.com/office/drawing/2014/main" id="{DC86EA6D-482F-1CBE-D09D-F3B0A081D4FB}"/>
              </a:ext>
            </a:extLst>
          </p:cNvPr>
          <p:cNvSpPr/>
          <p:nvPr/>
        </p:nvSpPr>
        <p:spPr>
          <a:xfrm>
            <a:off x="7438477" y="3362981"/>
            <a:ext cx="630000" cy="630000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3BAA24A-431F-4425-EF14-08616F2A88A4}"/>
              </a:ext>
            </a:extLst>
          </p:cNvPr>
          <p:cNvSpPr/>
          <p:nvPr/>
        </p:nvSpPr>
        <p:spPr>
          <a:xfrm>
            <a:off x="6853477" y="4568981"/>
            <a:ext cx="1800000" cy="720000"/>
          </a:xfrm>
          <a:custGeom>
            <a:avLst/>
            <a:gdLst>
              <a:gd name="connsiteX0" fmla="*/ 0 w 1800000"/>
              <a:gd name="connsiteY0" fmla="*/ 0 h 720000"/>
              <a:gd name="connsiteX1" fmla="*/ 1800000 w 1800000"/>
              <a:gd name="connsiteY1" fmla="*/ 0 h 720000"/>
              <a:gd name="connsiteX2" fmla="*/ 1800000 w 1800000"/>
              <a:gd name="connsiteY2" fmla="*/ 720000 h 720000"/>
              <a:gd name="connsiteX3" fmla="*/ 0 w 1800000"/>
              <a:gd name="connsiteY3" fmla="*/ 720000 h 720000"/>
              <a:gd name="connsiteX4" fmla="*/ 0 w 180000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720000">
                <a:moveTo>
                  <a:pt x="0" y="0"/>
                </a:moveTo>
                <a:lnTo>
                  <a:pt x="1800000" y="0"/>
                </a:lnTo>
                <a:lnTo>
                  <a:pt x="180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accent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accen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accent5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n-US" sz="1200" kern="1200"/>
              <a:t>SMS scams (smishing) can install malware on devices.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  <p:bldP spid="12" grpId="0"/>
      <p:bldP spid="14" grpId="0" animBg="1"/>
      <p:bldP spid="17" grpId="0"/>
      <p:bldP spid="18" grpId="0" animBg="1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Realistic Examples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61A2F1-384A-958C-4446-CA8FB2F61D33}"/>
              </a:ext>
            </a:extLst>
          </p:cNvPr>
          <p:cNvSpPr/>
          <p:nvPr/>
        </p:nvSpPr>
        <p:spPr>
          <a:xfrm>
            <a:off x="457200" y="1600752"/>
            <a:ext cx="8229600" cy="1292816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Rectangle 5" descr="Envelope">
            <a:extLst>
              <a:ext uri="{FF2B5EF4-FFF2-40B4-BE49-F238E27FC236}">
                <a16:creationId xmlns:a16="http://schemas.microsoft.com/office/drawing/2014/main" id="{86E42B1F-BB6E-4557-1035-E6AD0745E017}"/>
              </a:ext>
            </a:extLst>
          </p:cNvPr>
          <p:cNvSpPr/>
          <p:nvPr/>
        </p:nvSpPr>
        <p:spPr>
          <a:xfrm>
            <a:off x="848277" y="1891636"/>
            <a:ext cx="711049" cy="711049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43B386E-B2CC-7C0B-96D4-84D19D0B8C4B}"/>
              </a:ext>
            </a:extLst>
          </p:cNvPr>
          <p:cNvSpPr/>
          <p:nvPr/>
        </p:nvSpPr>
        <p:spPr>
          <a:xfrm>
            <a:off x="1950403" y="1600752"/>
            <a:ext cx="6736396" cy="1292816"/>
          </a:xfrm>
          <a:custGeom>
            <a:avLst/>
            <a:gdLst>
              <a:gd name="connsiteX0" fmla="*/ 0 w 6736396"/>
              <a:gd name="connsiteY0" fmla="*/ 0 h 1292816"/>
              <a:gd name="connsiteX1" fmla="*/ 6736396 w 6736396"/>
              <a:gd name="connsiteY1" fmla="*/ 0 h 1292816"/>
              <a:gd name="connsiteX2" fmla="*/ 6736396 w 6736396"/>
              <a:gd name="connsiteY2" fmla="*/ 1292816 h 1292816"/>
              <a:gd name="connsiteX3" fmla="*/ 0 w 6736396"/>
              <a:gd name="connsiteY3" fmla="*/ 1292816 h 1292816"/>
              <a:gd name="connsiteX4" fmla="*/ 0 w 6736396"/>
              <a:gd name="connsiteY4" fmla="*/ 0 h 129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36396" h="1292816">
                <a:moveTo>
                  <a:pt x="0" y="0"/>
                </a:moveTo>
                <a:lnTo>
                  <a:pt x="6736396" y="0"/>
                </a:lnTo>
                <a:lnTo>
                  <a:pt x="6736396" y="1292816"/>
                </a:lnTo>
                <a:lnTo>
                  <a:pt x="0" y="129281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6823" tIns="136823" rIns="136823" bIns="136823" numCol="1" spcCol="1270" anchor="ctr" anchorCtr="0">
            <a:noAutofit/>
          </a:bodyPr>
          <a:lstStyle/>
          <a:p>
            <a:pPr marL="0" lvl="0" indent="0" algn="l" defTabSz="11112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 dirty="0"/>
              <a:t>Example 1: Email claiming to be from IT asking for login credentials.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98FB37-3E36-EF5A-72E0-D82685E2B9E4}"/>
              </a:ext>
            </a:extLst>
          </p:cNvPr>
          <p:cNvSpPr/>
          <p:nvPr/>
        </p:nvSpPr>
        <p:spPr>
          <a:xfrm>
            <a:off x="457200" y="3216773"/>
            <a:ext cx="8229600" cy="1292816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 descr="Receiver">
            <a:extLst>
              <a:ext uri="{FF2B5EF4-FFF2-40B4-BE49-F238E27FC236}">
                <a16:creationId xmlns:a16="http://schemas.microsoft.com/office/drawing/2014/main" id="{BA9C7A09-68CF-9B89-619E-0E1660666CEC}"/>
              </a:ext>
            </a:extLst>
          </p:cNvPr>
          <p:cNvSpPr/>
          <p:nvPr/>
        </p:nvSpPr>
        <p:spPr>
          <a:xfrm>
            <a:off x="848277" y="3507656"/>
            <a:ext cx="711049" cy="711049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30BF082-DD5B-6E12-50CA-06FA64F78A37}"/>
              </a:ext>
            </a:extLst>
          </p:cNvPr>
          <p:cNvSpPr/>
          <p:nvPr/>
        </p:nvSpPr>
        <p:spPr>
          <a:xfrm>
            <a:off x="1950403" y="3216773"/>
            <a:ext cx="6736396" cy="1292816"/>
          </a:xfrm>
          <a:custGeom>
            <a:avLst/>
            <a:gdLst>
              <a:gd name="connsiteX0" fmla="*/ 0 w 6736396"/>
              <a:gd name="connsiteY0" fmla="*/ 0 h 1292816"/>
              <a:gd name="connsiteX1" fmla="*/ 6736396 w 6736396"/>
              <a:gd name="connsiteY1" fmla="*/ 0 h 1292816"/>
              <a:gd name="connsiteX2" fmla="*/ 6736396 w 6736396"/>
              <a:gd name="connsiteY2" fmla="*/ 1292816 h 1292816"/>
              <a:gd name="connsiteX3" fmla="*/ 0 w 6736396"/>
              <a:gd name="connsiteY3" fmla="*/ 1292816 h 1292816"/>
              <a:gd name="connsiteX4" fmla="*/ 0 w 6736396"/>
              <a:gd name="connsiteY4" fmla="*/ 0 h 129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36396" h="1292816">
                <a:moveTo>
                  <a:pt x="0" y="0"/>
                </a:moveTo>
                <a:lnTo>
                  <a:pt x="6736396" y="0"/>
                </a:lnTo>
                <a:lnTo>
                  <a:pt x="6736396" y="1292816"/>
                </a:lnTo>
                <a:lnTo>
                  <a:pt x="0" y="129281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6823" tIns="136823" rIns="136823" bIns="136823" numCol="1" spcCol="1270" anchor="ctr" anchorCtr="0">
            <a:noAutofit/>
          </a:bodyPr>
          <a:lstStyle/>
          <a:p>
            <a:pPr marL="0" lvl="0" indent="0" algn="l" defTabSz="11112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/>
              <a:t>Example 2: Phone call pretending to be from HR requesting confidential info.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D22E17-96C2-0C7E-F233-B63A83122E4A}"/>
              </a:ext>
            </a:extLst>
          </p:cNvPr>
          <p:cNvSpPr/>
          <p:nvPr/>
        </p:nvSpPr>
        <p:spPr>
          <a:xfrm>
            <a:off x="457200" y="4832793"/>
            <a:ext cx="8229600" cy="1292816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 descr="Smart Phone">
            <a:extLst>
              <a:ext uri="{FF2B5EF4-FFF2-40B4-BE49-F238E27FC236}">
                <a16:creationId xmlns:a16="http://schemas.microsoft.com/office/drawing/2014/main" id="{276D42BF-0708-57D7-8B7B-55D8D6AD59C2}"/>
              </a:ext>
            </a:extLst>
          </p:cNvPr>
          <p:cNvSpPr/>
          <p:nvPr/>
        </p:nvSpPr>
        <p:spPr>
          <a:xfrm>
            <a:off x="848277" y="5123677"/>
            <a:ext cx="711049" cy="711049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58315A-65D1-5B84-3F7C-E9FF1D6356BF}"/>
              </a:ext>
            </a:extLst>
          </p:cNvPr>
          <p:cNvSpPr/>
          <p:nvPr/>
        </p:nvSpPr>
        <p:spPr>
          <a:xfrm>
            <a:off x="1950403" y="4832793"/>
            <a:ext cx="6736396" cy="1292816"/>
          </a:xfrm>
          <a:custGeom>
            <a:avLst/>
            <a:gdLst>
              <a:gd name="connsiteX0" fmla="*/ 0 w 6736396"/>
              <a:gd name="connsiteY0" fmla="*/ 0 h 1292816"/>
              <a:gd name="connsiteX1" fmla="*/ 6736396 w 6736396"/>
              <a:gd name="connsiteY1" fmla="*/ 0 h 1292816"/>
              <a:gd name="connsiteX2" fmla="*/ 6736396 w 6736396"/>
              <a:gd name="connsiteY2" fmla="*/ 1292816 h 1292816"/>
              <a:gd name="connsiteX3" fmla="*/ 0 w 6736396"/>
              <a:gd name="connsiteY3" fmla="*/ 1292816 h 1292816"/>
              <a:gd name="connsiteX4" fmla="*/ 0 w 6736396"/>
              <a:gd name="connsiteY4" fmla="*/ 0 h 129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36396" h="1292816">
                <a:moveTo>
                  <a:pt x="0" y="0"/>
                </a:moveTo>
                <a:lnTo>
                  <a:pt x="6736396" y="0"/>
                </a:lnTo>
                <a:lnTo>
                  <a:pt x="6736396" y="1292816"/>
                </a:lnTo>
                <a:lnTo>
                  <a:pt x="0" y="129281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6823" tIns="136823" rIns="136823" bIns="136823" numCol="1" spcCol="1270" anchor="ctr" anchorCtr="0">
            <a:noAutofit/>
          </a:bodyPr>
          <a:lstStyle/>
          <a:p>
            <a:pPr marL="0" lvl="0" indent="0" algn="l" defTabSz="11112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/>
              <a:t>Example 3: SMS with a link to 'update your account' leading to fake site.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CA" sz="3200"/>
              <a:t>Consequences of Falling Victim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B0C4A3-8FD9-9432-BA90-7792862D127E}"/>
              </a:ext>
            </a:extLst>
          </p:cNvPr>
          <p:cNvSpPr/>
          <p:nvPr/>
        </p:nvSpPr>
        <p:spPr>
          <a:xfrm>
            <a:off x="3977640" y="678944"/>
            <a:ext cx="4773168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5" name="Rectangle 4" descr="Robber">
            <a:extLst>
              <a:ext uri="{FF2B5EF4-FFF2-40B4-BE49-F238E27FC236}">
                <a16:creationId xmlns:a16="http://schemas.microsoft.com/office/drawing/2014/main" id="{D2AECE21-066E-1521-F68F-535195391D57}"/>
              </a:ext>
            </a:extLst>
          </p:cNvPr>
          <p:cNvSpPr/>
          <p:nvPr/>
        </p:nvSpPr>
        <p:spPr>
          <a:xfrm>
            <a:off x="4328492" y="939909"/>
            <a:ext cx="637913" cy="637913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4B2F51F-1E1B-9CF2-6D03-73B0DBBDA34D}"/>
              </a:ext>
            </a:extLst>
          </p:cNvPr>
          <p:cNvSpPr/>
          <p:nvPr/>
        </p:nvSpPr>
        <p:spPr>
          <a:xfrm>
            <a:off x="5317258" y="678944"/>
            <a:ext cx="3433549" cy="1159843"/>
          </a:xfrm>
          <a:custGeom>
            <a:avLst/>
            <a:gdLst>
              <a:gd name="connsiteX0" fmla="*/ 0 w 3433549"/>
              <a:gd name="connsiteY0" fmla="*/ 0 h 1159843"/>
              <a:gd name="connsiteX1" fmla="*/ 3433549 w 3433549"/>
              <a:gd name="connsiteY1" fmla="*/ 0 h 1159843"/>
              <a:gd name="connsiteX2" fmla="*/ 3433549 w 3433549"/>
              <a:gd name="connsiteY2" fmla="*/ 1159843 h 1159843"/>
              <a:gd name="connsiteX3" fmla="*/ 0 w 3433549"/>
              <a:gd name="connsiteY3" fmla="*/ 1159843 h 1159843"/>
              <a:gd name="connsiteX4" fmla="*/ 0 w 3433549"/>
              <a:gd name="connsiteY4" fmla="*/ 0 h 1159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49" h="1159843">
                <a:moveTo>
                  <a:pt x="0" y="0"/>
                </a:moveTo>
                <a:lnTo>
                  <a:pt x="3433549" y="0"/>
                </a:lnTo>
                <a:lnTo>
                  <a:pt x="3433549" y="1159843"/>
                </a:lnTo>
                <a:lnTo>
                  <a:pt x="0" y="115984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750" tIns="122750" rIns="122750" bIns="122750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Data breaches leading to financial loss.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EBE3A3-9D2C-CA26-FD78-A121B301229C}"/>
              </a:ext>
            </a:extLst>
          </p:cNvPr>
          <p:cNvSpPr/>
          <p:nvPr/>
        </p:nvSpPr>
        <p:spPr>
          <a:xfrm>
            <a:off x="3977640" y="2128748"/>
            <a:ext cx="4773168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 descr="Welder">
            <a:extLst>
              <a:ext uri="{FF2B5EF4-FFF2-40B4-BE49-F238E27FC236}">
                <a16:creationId xmlns:a16="http://schemas.microsoft.com/office/drawing/2014/main" id="{F47DC0EB-D30C-AB26-7EE9-E5D3E95DE016}"/>
              </a:ext>
            </a:extLst>
          </p:cNvPr>
          <p:cNvSpPr/>
          <p:nvPr/>
        </p:nvSpPr>
        <p:spPr>
          <a:xfrm>
            <a:off x="4328492" y="2389713"/>
            <a:ext cx="637913" cy="637913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F227D6-4849-0BA7-6AB5-BD4871E8EAC1}"/>
              </a:ext>
            </a:extLst>
          </p:cNvPr>
          <p:cNvSpPr/>
          <p:nvPr/>
        </p:nvSpPr>
        <p:spPr>
          <a:xfrm>
            <a:off x="5317258" y="2128748"/>
            <a:ext cx="3433549" cy="1159843"/>
          </a:xfrm>
          <a:custGeom>
            <a:avLst/>
            <a:gdLst>
              <a:gd name="connsiteX0" fmla="*/ 0 w 3433549"/>
              <a:gd name="connsiteY0" fmla="*/ 0 h 1159843"/>
              <a:gd name="connsiteX1" fmla="*/ 3433549 w 3433549"/>
              <a:gd name="connsiteY1" fmla="*/ 0 h 1159843"/>
              <a:gd name="connsiteX2" fmla="*/ 3433549 w 3433549"/>
              <a:gd name="connsiteY2" fmla="*/ 1159843 h 1159843"/>
              <a:gd name="connsiteX3" fmla="*/ 0 w 3433549"/>
              <a:gd name="connsiteY3" fmla="*/ 1159843 h 1159843"/>
              <a:gd name="connsiteX4" fmla="*/ 0 w 3433549"/>
              <a:gd name="connsiteY4" fmla="*/ 0 h 1159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49" h="1159843">
                <a:moveTo>
                  <a:pt x="0" y="0"/>
                </a:moveTo>
                <a:lnTo>
                  <a:pt x="3433549" y="0"/>
                </a:lnTo>
                <a:lnTo>
                  <a:pt x="3433549" y="1159843"/>
                </a:lnTo>
                <a:lnTo>
                  <a:pt x="0" y="115984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750" tIns="122750" rIns="122750" bIns="122750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/>
              <a:t>Reputational damage to Wayne Enterprise.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2DC33C-EEF1-BCE1-787B-3F417F2FBC8E}"/>
              </a:ext>
            </a:extLst>
          </p:cNvPr>
          <p:cNvSpPr/>
          <p:nvPr/>
        </p:nvSpPr>
        <p:spPr>
          <a:xfrm>
            <a:off x="3977640" y="3578552"/>
            <a:ext cx="4773168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Rectangle 15" descr="Gavel">
            <a:extLst>
              <a:ext uri="{FF2B5EF4-FFF2-40B4-BE49-F238E27FC236}">
                <a16:creationId xmlns:a16="http://schemas.microsoft.com/office/drawing/2014/main" id="{9AEF2544-B938-A2C9-B2D3-306A42BF74F0}"/>
              </a:ext>
            </a:extLst>
          </p:cNvPr>
          <p:cNvSpPr/>
          <p:nvPr/>
        </p:nvSpPr>
        <p:spPr>
          <a:xfrm>
            <a:off x="4328492" y="3839517"/>
            <a:ext cx="637913" cy="637913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378E834-B4F9-91FE-A85F-777826B51CED}"/>
              </a:ext>
            </a:extLst>
          </p:cNvPr>
          <p:cNvSpPr/>
          <p:nvPr/>
        </p:nvSpPr>
        <p:spPr>
          <a:xfrm>
            <a:off x="5317258" y="3578552"/>
            <a:ext cx="3433549" cy="1159843"/>
          </a:xfrm>
          <a:custGeom>
            <a:avLst/>
            <a:gdLst>
              <a:gd name="connsiteX0" fmla="*/ 0 w 3433549"/>
              <a:gd name="connsiteY0" fmla="*/ 0 h 1159843"/>
              <a:gd name="connsiteX1" fmla="*/ 3433549 w 3433549"/>
              <a:gd name="connsiteY1" fmla="*/ 0 h 1159843"/>
              <a:gd name="connsiteX2" fmla="*/ 3433549 w 3433549"/>
              <a:gd name="connsiteY2" fmla="*/ 1159843 h 1159843"/>
              <a:gd name="connsiteX3" fmla="*/ 0 w 3433549"/>
              <a:gd name="connsiteY3" fmla="*/ 1159843 h 1159843"/>
              <a:gd name="connsiteX4" fmla="*/ 0 w 3433549"/>
              <a:gd name="connsiteY4" fmla="*/ 0 h 1159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49" h="1159843">
                <a:moveTo>
                  <a:pt x="0" y="0"/>
                </a:moveTo>
                <a:lnTo>
                  <a:pt x="3433549" y="0"/>
                </a:lnTo>
                <a:lnTo>
                  <a:pt x="3433549" y="1159843"/>
                </a:lnTo>
                <a:lnTo>
                  <a:pt x="0" y="115984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750" tIns="122750" rIns="122750" bIns="122750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/>
              <a:t>Legal and compliance penalties.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65366A-EE29-72AC-6D64-DA9381A20681}"/>
              </a:ext>
            </a:extLst>
          </p:cNvPr>
          <p:cNvSpPr/>
          <p:nvPr/>
        </p:nvSpPr>
        <p:spPr>
          <a:xfrm>
            <a:off x="3977640" y="5028356"/>
            <a:ext cx="4773168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8" descr="Downward trend">
            <a:extLst>
              <a:ext uri="{FF2B5EF4-FFF2-40B4-BE49-F238E27FC236}">
                <a16:creationId xmlns:a16="http://schemas.microsoft.com/office/drawing/2014/main" id="{59D46FD1-1FD8-BBD5-2D3A-A9E6ADCF4896}"/>
              </a:ext>
            </a:extLst>
          </p:cNvPr>
          <p:cNvSpPr/>
          <p:nvPr/>
        </p:nvSpPr>
        <p:spPr>
          <a:xfrm>
            <a:off x="4328492" y="5289321"/>
            <a:ext cx="637913" cy="637913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301CB8C-606E-7C87-06E8-669B93366430}"/>
              </a:ext>
            </a:extLst>
          </p:cNvPr>
          <p:cNvSpPr/>
          <p:nvPr/>
        </p:nvSpPr>
        <p:spPr>
          <a:xfrm>
            <a:off x="5317258" y="5028356"/>
            <a:ext cx="3433549" cy="1159843"/>
          </a:xfrm>
          <a:custGeom>
            <a:avLst/>
            <a:gdLst>
              <a:gd name="connsiteX0" fmla="*/ 0 w 3433549"/>
              <a:gd name="connsiteY0" fmla="*/ 0 h 1159843"/>
              <a:gd name="connsiteX1" fmla="*/ 3433549 w 3433549"/>
              <a:gd name="connsiteY1" fmla="*/ 0 h 1159843"/>
              <a:gd name="connsiteX2" fmla="*/ 3433549 w 3433549"/>
              <a:gd name="connsiteY2" fmla="*/ 1159843 h 1159843"/>
              <a:gd name="connsiteX3" fmla="*/ 0 w 3433549"/>
              <a:gd name="connsiteY3" fmla="*/ 1159843 h 1159843"/>
              <a:gd name="connsiteX4" fmla="*/ 0 w 3433549"/>
              <a:gd name="connsiteY4" fmla="*/ 0 h 1159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49" h="1159843">
                <a:moveTo>
                  <a:pt x="0" y="0"/>
                </a:moveTo>
                <a:lnTo>
                  <a:pt x="3433549" y="0"/>
                </a:lnTo>
                <a:lnTo>
                  <a:pt x="3433549" y="1159843"/>
                </a:lnTo>
                <a:lnTo>
                  <a:pt x="0" y="115984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750" tIns="122750" rIns="122750" bIns="122750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/>
              <a:t>Loss of customer trust.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4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B5543D1E-0DCA-2BF9-597D-14658FA195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145" r="13574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18080"/>
            <a:ext cx="4098726" cy="1559301"/>
          </a:xfrm>
        </p:spPr>
        <p:txBody>
          <a:bodyPr>
            <a:normAutofit/>
          </a:bodyPr>
          <a:lstStyle/>
          <a:p>
            <a:r>
              <a:rPr lang="en-CA" sz="3500" dirty="0"/>
              <a:t>Best Practices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7514" y="2369205"/>
            <a:ext cx="4410029" cy="427509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>
              <a:spcAft>
                <a:spcPts val="1000"/>
              </a:spcAft>
              <a:defRPr sz="1800"/>
            </a:pPr>
            <a:r>
              <a:rPr lang="en-US" sz="2000" dirty="0"/>
              <a:t>Verify sender identity before clicking links or sharing info.</a:t>
            </a:r>
          </a:p>
          <a:p>
            <a:pPr>
              <a:spcAft>
                <a:spcPts val="1000"/>
              </a:spcAft>
              <a:defRPr sz="1800"/>
            </a:pPr>
            <a:r>
              <a:rPr lang="en-US" sz="2000" dirty="0"/>
              <a:t>Do not share passwords over email or phone.</a:t>
            </a:r>
          </a:p>
          <a:p>
            <a:pPr>
              <a:spcAft>
                <a:spcPts val="1000"/>
              </a:spcAft>
              <a:defRPr sz="1800"/>
            </a:pPr>
            <a:r>
              <a:rPr lang="en-US" sz="2000" dirty="0"/>
              <a:t>Report suspicious emails and calls to IT immediately.</a:t>
            </a:r>
          </a:p>
          <a:p>
            <a:pPr>
              <a:spcAft>
                <a:spcPts val="1000"/>
              </a:spcAft>
              <a:defRPr sz="1800"/>
            </a:pPr>
            <a:r>
              <a:rPr lang="en-US" sz="2000" dirty="0"/>
              <a:t>Enable Multi-Factor Authentication (MFA) wherever possible.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69D85E-4873-85DA-1EBD-D6C8BC8C63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r="1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2B03A5-BC9B-70C5-D9A2-B817EE152920}"/>
              </a:ext>
            </a:extLst>
          </p:cNvPr>
          <p:cNvSpPr/>
          <p:nvPr/>
        </p:nvSpPr>
        <p:spPr>
          <a:xfrm>
            <a:off x="1529606" y="2937648"/>
            <a:ext cx="830887" cy="71"/>
          </a:xfrm>
          <a:prstGeom prst="rect">
            <a:avLst/>
          </a:prstGeom>
        </p:spPr>
        <p:style>
          <a:lnRef idx="1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B53989E-B34F-0384-A5D4-75CA9FAF2BFE}"/>
              </a:ext>
            </a:extLst>
          </p:cNvPr>
          <p:cNvSpPr/>
          <p:nvPr/>
        </p:nvSpPr>
        <p:spPr>
          <a:xfrm>
            <a:off x="2410346" y="2867889"/>
            <a:ext cx="95552" cy="179369"/>
          </a:xfrm>
          <a:prstGeom prst="chevron">
            <a:avLst>
              <a:gd name="adj" fmla="val 90000"/>
            </a:avLst>
          </a:prstGeom>
        </p:spPr>
        <p:style>
          <a:lnRef idx="1">
            <a:schemeClr val="accent5">
              <a:tint val="40000"/>
              <a:alpha val="90000"/>
              <a:hueOff val="-976407"/>
              <a:satOff val="4387"/>
              <a:lumOff val="302"/>
              <a:alphaOff val="0"/>
            </a:schemeClr>
          </a:lnRef>
          <a:fillRef idx="1">
            <a:schemeClr val="accent5">
              <a:tint val="40000"/>
              <a:alpha val="90000"/>
              <a:hueOff val="-976407"/>
              <a:satOff val="4387"/>
              <a:lumOff val="302"/>
              <a:alphaOff val="0"/>
            </a:schemeClr>
          </a:fillRef>
          <a:effectRef idx="0">
            <a:schemeClr val="accent5">
              <a:tint val="40000"/>
              <a:alpha val="90000"/>
              <a:hueOff val="-976407"/>
              <a:satOff val="4387"/>
              <a:lumOff val="30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4EF8DF8-9BB0-22DC-8BAE-403266145D36}"/>
              </a:ext>
            </a:extLst>
          </p:cNvPr>
          <p:cNvSpPr/>
          <p:nvPr/>
        </p:nvSpPr>
        <p:spPr>
          <a:xfrm>
            <a:off x="1009965" y="2521904"/>
            <a:ext cx="831559" cy="831559"/>
          </a:xfrm>
          <a:custGeom>
            <a:avLst/>
            <a:gdLst>
              <a:gd name="connsiteX0" fmla="*/ 0 w 831559"/>
              <a:gd name="connsiteY0" fmla="*/ 415780 h 831559"/>
              <a:gd name="connsiteX1" fmla="*/ 415780 w 831559"/>
              <a:gd name="connsiteY1" fmla="*/ 0 h 831559"/>
              <a:gd name="connsiteX2" fmla="*/ 831560 w 831559"/>
              <a:gd name="connsiteY2" fmla="*/ 415780 h 831559"/>
              <a:gd name="connsiteX3" fmla="*/ 415780 w 831559"/>
              <a:gd name="connsiteY3" fmla="*/ 831560 h 831559"/>
              <a:gd name="connsiteX4" fmla="*/ 0 w 831559"/>
              <a:gd name="connsiteY4" fmla="*/ 415780 h 831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59" h="831559">
                <a:moveTo>
                  <a:pt x="0" y="415780"/>
                </a:moveTo>
                <a:cubicBezTo>
                  <a:pt x="0" y="186151"/>
                  <a:pt x="186151" y="0"/>
                  <a:pt x="415780" y="0"/>
                </a:cubicBezTo>
                <a:cubicBezTo>
                  <a:pt x="645409" y="0"/>
                  <a:pt x="831560" y="186151"/>
                  <a:pt x="831560" y="415780"/>
                </a:cubicBezTo>
                <a:cubicBezTo>
                  <a:pt x="831560" y="645409"/>
                  <a:pt x="645409" y="831560"/>
                  <a:pt x="415780" y="831560"/>
                </a:cubicBezTo>
                <a:cubicBezTo>
                  <a:pt x="186151" y="831560"/>
                  <a:pt x="0" y="645409"/>
                  <a:pt x="0" y="415780"/>
                </a:cubicBezTo>
                <a:close/>
              </a:path>
            </a:pathLst>
          </a:custGeom>
        </p:spPr>
        <p:style>
          <a:lnRef idx="1">
            <a:schemeClr val="accent5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048" tIns="154048" rIns="154048" bIns="154048" numCol="1" spcCol="1270" anchor="ctr" anchorCtr="0">
            <a:noAutofit/>
          </a:bodyPr>
          <a:lstStyle/>
          <a:p>
            <a:pPr marL="0" lvl="0" indent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/>
              <a:t>1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E8123F-2398-0D88-069B-721520AFC04A}"/>
              </a:ext>
            </a:extLst>
          </p:cNvPr>
          <p:cNvSpPr/>
          <p:nvPr/>
        </p:nvSpPr>
        <p:spPr>
          <a:xfrm>
            <a:off x="490997" y="3518969"/>
            <a:ext cx="1869496" cy="1965600"/>
          </a:xfrm>
          <a:custGeom>
            <a:avLst/>
            <a:gdLst>
              <a:gd name="connsiteX0" fmla="*/ 0 w 1869496"/>
              <a:gd name="connsiteY0" fmla="*/ 373899 h 1965600"/>
              <a:gd name="connsiteX1" fmla="*/ 560849 w 1869496"/>
              <a:gd name="connsiteY1" fmla="*/ 373899 h 1965600"/>
              <a:gd name="connsiteX2" fmla="*/ 560849 w 1869496"/>
              <a:gd name="connsiteY2" fmla="*/ 373899 h 1965600"/>
              <a:gd name="connsiteX3" fmla="*/ 560849 w 1869496"/>
              <a:gd name="connsiteY3" fmla="*/ 373899 h 1965600"/>
              <a:gd name="connsiteX4" fmla="*/ 934748 w 1869496"/>
              <a:gd name="connsiteY4" fmla="*/ 0 h 1965600"/>
              <a:gd name="connsiteX5" fmla="*/ 1308647 w 1869496"/>
              <a:gd name="connsiteY5" fmla="*/ 373899 h 1965600"/>
              <a:gd name="connsiteX6" fmla="*/ 1308647 w 1869496"/>
              <a:gd name="connsiteY6" fmla="*/ 373899 h 1965600"/>
              <a:gd name="connsiteX7" fmla="*/ 1308647 w 1869496"/>
              <a:gd name="connsiteY7" fmla="*/ 373899 h 1965600"/>
              <a:gd name="connsiteX8" fmla="*/ 1869496 w 1869496"/>
              <a:gd name="connsiteY8" fmla="*/ 373899 h 1965600"/>
              <a:gd name="connsiteX9" fmla="*/ 1869496 w 1869496"/>
              <a:gd name="connsiteY9" fmla="*/ 1965600 h 1965600"/>
              <a:gd name="connsiteX10" fmla="*/ 0 w 1869496"/>
              <a:gd name="connsiteY10" fmla="*/ 1965600 h 1965600"/>
              <a:gd name="connsiteX11" fmla="*/ 0 w 1869496"/>
              <a:gd name="connsiteY11" fmla="*/ 373899 h 196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69496" h="1965600">
                <a:moveTo>
                  <a:pt x="0" y="373899"/>
                </a:moveTo>
                <a:lnTo>
                  <a:pt x="560849" y="373899"/>
                </a:lnTo>
                <a:lnTo>
                  <a:pt x="560849" y="373899"/>
                </a:lnTo>
                <a:lnTo>
                  <a:pt x="560849" y="373899"/>
                </a:lnTo>
                <a:lnTo>
                  <a:pt x="934748" y="0"/>
                </a:lnTo>
                <a:lnTo>
                  <a:pt x="1308647" y="373899"/>
                </a:lnTo>
                <a:lnTo>
                  <a:pt x="1308647" y="373899"/>
                </a:lnTo>
                <a:lnTo>
                  <a:pt x="1308647" y="373899"/>
                </a:lnTo>
                <a:lnTo>
                  <a:pt x="1869496" y="373899"/>
                </a:lnTo>
                <a:lnTo>
                  <a:pt x="1869496" y="1965600"/>
                </a:lnTo>
                <a:lnTo>
                  <a:pt x="0" y="1965600"/>
                </a:lnTo>
                <a:lnTo>
                  <a:pt x="0" y="373899"/>
                </a:lnTo>
                <a:close/>
              </a:path>
            </a:pathLst>
          </a:custGeom>
        </p:spPr>
        <p:style>
          <a:lnRef idx="1">
            <a:schemeClr val="accent5">
              <a:tint val="40000"/>
              <a:alpha val="90000"/>
              <a:hueOff val="-1952815"/>
              <a:satOff val="8773"/>
              <a:lumOff val="603"/>
              <a:alphaOff val="0"/>
            </a:schemeClr>
          </a:lnRef>
          <a:fillRef idx="1">
            <a:schemeClr val="accent5">
              <a:tint val="40000"/>
              <a:alpha val="90000"/>
              <a:hueOff val="-1952815"/>
              <a:satOff val="8773"/>
              <a:lumOff val="603"/>
              <a:alphaOff val="0"/>
            </a:schemeClr>
          </a:fillRef>
          <a:effectRef idx="0">
            <a:schemeClr val="accent5">
              <a:tint val="40000"/>
              <a:alpha val="90000"/>
              <a:hueOff val="-1952815"/>
              <a:satOff val="8773"/>
              <a:lumOff val="603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7468" tIns="538999" rIns="147468" bIns="165100" numCol="1" spcCol="1270" anchor="t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Think before you click: Always verify.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DE0FC5-CCDF-448B-120D-310BB682DD85}"/>
              </a:ext>
            </a:extLst>
          </p:cNvPr>
          <p:cNvSpPr/>
          <p:nvPr/>
        </p:nvSpPr>
        <p:spPr>
          <a:xfrm>
            <a:off x="2568215" y="2937885"/>
            <a:ext cx="1869496" cy="72"/>
          </a:xfrm>
          <a:prstGeom prst="rect">
            <a:avLst/>
          </a:prstGeom>
        </p:spPr>
        <p:style>
          <a:lnRef idx="1">
            <a:schemeClr val="accent5">
              <a:tint val="40000"/>
              <a:alpha val="90000"/>
              <a:hueOff val="-2929222"/>
              <a:satOff val="13160"/>
              <a:lumOff val="905"/>
              <a:alphaOff val="0"/>
            </a:schemeClr>
          </a:lnRef>
          <a:fillRef idx="1">
            <a:schemeClr val="accent5">
              <a:tint val="40000"/>
              <a:alpha val="90000"/>
              <a:hueOff val="-2929222"/>
              <a:satOff val="13160"/>
              <a:lumOff val="905"/>
              <a:alphaOff val="0"/>
            </a:schemeClr>
          </a:fillRef>
          <a:effectRef idx="0">
            <a:schemeClr val="accent5">
              <a:tint val="40000"/>
              <a:alpha val="90000"/>
              <a:hueOff val="-2929222"/>
              <a:satOff val="13160"/>
              <a:lumOff val="905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AEB87ED2-90CB-BBDA-CBEF-467A0ADD5494}"/>
              </a:ext>
            </a:extLst>
          </p:cNvPr>
          <p:cNvSpPr/>
          <p:nvPr/>
        </p:nvSpPr>
        <p:spPr>
          <a:xfrm>
            <a:off x="4487564" y="2868087"/>
            <a:ext cx="95552" cy="179573"/>
          </a:xfrm>
          <a:prstGeom prst="chevron">
            <a:avLst>
              <a:gd name="adj" fmla="val 90000"/>
            </a:avLst>
          </a:prstGeom>
        </p:spPr>
        <p:style>
          <a:lnRef idx="1">
            <a:schemeClr val="accent5">
              <a:tint val="40000"/>
              <a:alpha val="90000"/>
              <a:hueOff val="-3905630"/>
              <a:satOff val="17547"/>
              <a:lumOff val="1206"/>
              <a:alphaOff val="0"/>
            </a:schemeClr>
          </a:lnRef>
          <a:fillRef idx="1">
            <a:schemeClr val="accent5">
              <a:tint val="40000"/>
              <a:alpha val="90000"/>
              <a:hueOff val="-3905630"/>
              <a:satOff val="17547"/>
              <a:lumOff val="1206"/>
              <a:alphaOff val="0"/>
            </a:schemeClr>
          </a:fillRef>
          <a:effectRef idx="0">
            <a:schemeClr val="accent5">
              <a:tint val="40000"/>
              <a:alpha val="90000"/>
              <a:hueOff val="-3905630"/>
              <a:satOff val="17547"/>
              <a:lumOff val="1206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396646-F094-D4EF-B396-269B636A9978}"/>
              </a:ext>
            </a:extLst>
          </p:cNvPr>
          <p:cNvSpPr/>
          <p:nvPr/>
        </p:nvSpPr>
        <p:spPr>
          <a:xfrm>
            <a:off x="3087183" y="2522141"/>
            <a:ext cx="831559" cy="831559"/>
          </a:xfrm>
          <a:custGeom>
            <a:avLst/>
            <a:gdLst>
              <a:gd name="connsiteX0" fmla="*/ 0 w 831559"/>
              <a:gd name="connsiteY0" fmla="*/ 415780 h 831559"/>
              <a:gd name="connsiteX1" fmla="*/ 415780 w 831559"/>
              <a:gd name="connsiteY1" fmla="*/ 0 h 831559"/>
              <a:gd name="connsiteX2" fmla="*/ 831560 w 831559"/>
              <a:gd name="connsiteY2" fmla="*/ 415780 h 831559"/>
              <a:gd name="connsiteX3" fmla="*/ 415780 w 831559"/>
              <a:gd name="connsiteY3" fmla="*/ 831560 h 831559"/>
              <a:gd name="connsiteX4" fmla="*/ 0 w 831559"/>
              <a:gd name="connsiteY4" fmla="*/ 415780 h 831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59" h="831559">
                <a:moveTo>
                  <a:pt x="0" y="415780"/>
                </a:moveTo>
                <a:cubicBezTo>
                  <a:pt x="0" y="186151"/>
                  <a:pt x="186151" y="0"/>
                  <a:pt x="415780" y="0"/>
                </a:cubicBezTo>
                <a:cubicBezTo>
                  <a:pt x="645409" y="0"/>
                  <a:pt x="831560" y="186151"/>
                  <a:pt x="831560" y="415780"/>
                </a:cubicBezTo>
                <a:cubicBezTo>
                  <a:pt x="831560" y="645409"/>
                  <a:pt x="645409" y="831560"/>
                  <a:pt x="415780" y="831560"/>
                </a:cubicBezTo>
                <a:cubicBezTo>
                  <a:pt x="186151" y="831560"/>
                  <a:pt x="0" y="645409"/>
                  <a:pt x="0" y="415780"/>
                </a:cubicBezTo>
                <a:close/>
              </a:path>
            </a:pathLst>
          </a:custGeom>
        </p:spPr>
        <p:style>
          <a:lnRef idx="1">
            <a:schemeClr val="accent5">
              <a:hueOff val="-3311292"/>
              <a:satOff val="13270"/>
              <a:lumOff val="2876"/>
              <a:alphaOff val="0"/>
            </a:schemeClr>
          </a:lnRef>
          <a:fillRef idx="3">
            <a:schemeClr val="accent5">
              <a:hueOff val="-3311292"/>
              <a:satOff val="13270"/>
              <a:lumOff val="2876"/>
              <a:alphaOff val="0"/>
            </a:schemeClr>
          </a:fillRef>
          <a:effectRef idx="2">
            <a:schemeClr val="accent5">
              <a:hueOff val="-3311292"/>
              <a:satOff val="13270"/>
              <a:lumOff val="287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048" tIns="154048" rIns="154048" bIns="154048" numCol="1" spcCol="1270" anchor="ctr" anchorCtr="0">
            <a:noAutofit/>
          </a:bodyPr>
          <a:lstStyle/>
          <a:p>
            <a:pPr marL="0" lvl="0" indent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/>
              <a:t>2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3C63D38-7CC2-D12B-ED51-ED329E21907C}"/>
              </a:ext>
            </a:extLst>
          </p:cNvPr>
          <p:cNvSpPr/>
          <p:nvPr/>
        </p:nvSpPr>
        <p:spPr>
          <a:xfrm>
            <a:off x="2568215" y="3519538"/>
            <a:ext cx="1869496" cy="1965600"/>
          </a:xfrm>
          <a:custGeom>
            <a:avLst/>
            <a:gdLst>
              <a:gd name="connsiteX0" fmla="*/ 0 w 1869496"/>
              <a:gd name="connsiteY0" fmla="*/ 373899 h 1965600"/>
              <a:gd name="connsiteX1" fmla="*/ 560849 w 1869496"/>
              <a:gd name="connsiteY1" fmla="*/ 373899 h 1965600"/>
              <a:gd name="connsiteX2" fmla="*/ 560849 w 1869496"/>
              <a:gd name="connsiteY2" fmla="*/ 373899 h 1965600"/>
              <a:gd name="connsiteX3" fmla="*/ 560849 w 1869496"/>
              <a:gd name="connsiteY3" fmla="*/ 373899 h 1965600"/>
              <a:gd name="connsiteX4" fmla="*/ 934748 w 1869496"/>
              <a:gd name="connsiteY4" fmla="*/ 0 h 1965600"/>
              <a:gd name="connsiteX5" fmla="*/ 1308647 w 1869496"/>
              <a:gd name="connsiteY5" fmla="*/ 373899 h 1965600"/>
              <a:gd name="connsiteX6" fmla="*/ 1308647 w 1869496"/>
              <a:gd name="connsiteY6" fmla="*/ 373899 h 1965600"/>
              <a:gd name="connsiteX7" fmla="*/ 1308647 w 1869496"/>
              <a:gd name="connsiteY7" fmla="*/ 373899 h 1965600"/>
              <a:gd name="connsiteX8" fmla="*/ 1869496 w 1869496"/>
              <a:gd name="connsiteY8" fmla="*/ 373899 h 1965600"/>
              <a:gd name="connsiteX9" fmla="*/ 1869496 w 1869496"/>
              <a:gd name="connsiteY9" fmla="*/ 1965600 h 1965600"/>
              <a:gd name="connsiteX10" fmla="*/ 0 w 1869496"/>
              <a:gd name="connsiteY10" fmla="*/ 1965600 h 1965600"/>
              <a:gd name="connsiteX11" fmla="*/ 0 w 1869496"/>
              <a:gd name="connsiteY11" fmla="*/ 373899 h 196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69496" h="1965600">
                <a:moveTo>
                  <a:pt x="0" y="373899"/>
                </a:moveTo>
                <a:lnTo>
                  <a:pt x="560849" y="373899"/>
                </a:lnTo>
                <a:lnTo>
                  <a:pt x="560849" y="373899"/>
                </a:lnTo>
                <a:lnTo>
                  <a:pt x="560849" y="373899"/>
                </a:lnTo>
                <a:lnTo>
                  <a:pt x="934748" y="0"/>
                </a:lnTo>
                <a:lnTo>
                  <a:pt x="1308647" y="373899"/>
                </a:lnTo>
                <a:lnTo>
                  <a:pt x="1308647" y="373899"/>
                </a:lnTo>
                <a:lnTo>
                  <a:pt x="1308647" y="373899"/>
                </a:lnTo>
                <a:lnTo>
                  <a:pt x="1869496" y="373899"/>
                </a:lnTo>
                <a:lnTo>
                  <a:pt x="1869496" y="1965600"/>
                </a:lnTo>
                <a:lnTo>
                  <a:pt x="0" y="1965600"/>
                </a:lnTo>
                <a:lnTo>
                  <a:pt x="0" y="373899"/>
                </a:lnTo>
                <a:close/>
              </a:path>
            </a:pathLst>
          </a:custGeom>
        </p:spPr>
        <p:style>
          <a:lnRef idx="1">
            <a:schemeClr val="accent5">
              <a:tint val="40000"/>
              <a:alpha val="90000"/>
              <a:hueOff val="-4882037"/>
              <a:satOff val="21933"/>
              <a:lumOff val="1508"/>
              <a:alphaOff val="0"/>
            </a:schemeClr>
          </a:lnRef>
          <a:fillRef idx="1">
            <a:schemeClr val="accent5">
              <a:tint val="40000"/>
              <a:alpha val="90000"/>
              <a:hueOff val="-4882037"/>
              <a:satOff val="21933"/>
              <a:lumOff val="1508"/>
              <a:alphaOff val="0"/>
            </a:schemeClr>
          </a:fillRef>
          <a:effectRef idx="0">
            <a:schemeClr val="accent5">
              <a:tint val="40000"/>
              <a:alpha val="90000"/>
              <a:hueOff val="-4882037"/>
              <a:satOff val="21933"/>
              <a:lumOff val="1508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7468" tIns="538999" rIns="147468" bIns="165100" numCol="1" spcCol="1270" anchor="t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/>
              <a:t>Never share credentials via email, phone, or SMS.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BFC772-7990-CC4A-C390-C518A6E8123B}"/>
              </a:ext>
            </a:extLst>
          </p:cNvPr>
          <p:cNvSpPr/>
          <p:nvPr/>
        </p:nvSpPr>
        <p:spPr>
          <a:xfrm>
            <a:off x="4645433" y="2937885"/>
            <a:ext cx="1869496" cy="72"/>
          </a:xfrm>
          <a:prstGeom prst="rect">
            <a:avLst/>
          </a:prstGeom>
        </p:spPr>
        <p:style>
          <a:lnRef idx="1">
            <a:schemeClr val="accent5">
              <a:tint val="40000"/>
              <a:alpha val="90000"/>
              <a:hueOff val="-5858445"/>
              <a:satOff val="26320"/>
              <a:lumOff val="1809"/>
              <a:alphaOff val="0"/>
            </a:schemeClr>
          </a:lnRef>
          <a:fillRef idx="1">
            <a:schemeClr val="accent5">
              <a:tint val="40000"/>
              <a:alpha val="90000"/>
              <a:hueOff val="-5858445"/>
              <a:satOff val="26320"/>
              <a:lumOff val="1809"/>
              <a:alphaOff val="0"/>
            </a:schemeClr>
          </a:fillRef>
          <a:effectRef idx="0">
            <a:schemeClr val="accent5">
              <a:tint val="40000"/>
              <a:alpha val="90000"/>
              <a:hueOff val="-5858445"/>
              <a:satOff val="26320"/>
              <a:lumOff val="1809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594739EE-246B-6D28-9753-441126CBF143}"/>
              </a:ext>
            </a:extLst>
          </p:cNvPr>
          <p:cNvSpPr/>
          <p:nvPr/>
        </p:nvSpPr>
        <p:spPr>
          <a:xfrm>
            <a:off x="6564783" y="2868087"/>
            <a:ext cx="95552" cy="179573"/>
          </a:xfrm>
          <a:prstGeom prst="chevron">
            <a:avLst>
              <a:gd name="adj" fmla="val 90000"/>
            </a:avLst>
          </a:prstGeom>
        </p:spPr>
        <p:style>
          <a:lnRef idx="1">
            <a:schemeClr val="accent5">
              <a:tint val="40000"/>
              <a:alpha val="90000"/>
              <a:hueOff val="-6834852"/>
              <a:satOff val="30706"/>
              <a:lumOff val="2111"/>
              <a:alphaOff val="0"/>
            </a:schemeClr>
          </a:lnRef>
          <a:fillRef idx="1">
            <a:schemeClr val="accent5">
              <a:tint val="40000"/>
              <a:alpha val="90000"/>
              <a:hueOff val="-6834852"/>
              <a:satOff val="30706"/>
              <a:lumOff val="2111"/>
              <a:alphaOff val="0"/>
            </a:schemeClr>
          </a:fillRef>
          <a:effectRef idx="0">
            <a:schemeClr val="accent5">
              <a:tint val="40000"/>
              <a:alpha val="90000"/>
              <a:hueOff val="-6834852"/>
              <a:satOff val="30706"/>
              <a:lumOff val="2111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8EC83A-D57A-B173-3468-396FF2B6A207}"/>
              </a:ext>
            </a:extLst>
          </p:cNvPr>
          <p:cNvSpPr/>
          <p:nvPr/>
        </p:nvSpPr>
        <p:spPr>
          <a:xfrm>
            <a:off x="5164402" y="2522141"/>
            <a:ext cx="831559" cy="831559"/>
          </a:xfrm>
          <a:custGeom>
            <a:avLst/>
            <a:gdLst>
              <a:gd name="connsiteX0" fmla="*/ 0 w 831559"/>
              <a:gd name="connsiteY0" fmla="*/ 415780 h 831559"/>
              <a:gd name="connsiteX1" fmla="*/ 415780 w 831559"/>
              <a:gd name="connsiteY1" fmla="*/ 0 h 831559"/>
              <a:gd name="connsiteX2" fmla="*/ 831560 w 831559"/>
              <a:gd name="connsiteY2" fmla="*/ 415780 h 831559"/>
              <a:gd name="connsiteX3" fmla="*/ 415780 w 831559"/>
              <a:gd name="connsiteY3" fmla="*/ 831560 h 831559"/>
              <a:gd name="connsiteX4" fmla="*/ 0 w 831559"/>
              <a:gd name="connsiteY4" fmla="*/ 415780 h 831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59" h="831559">
                <a:moveTo>
                  <a:pt x="0" y="415780"/>
                </a:moveTo>
                <a:cubicBezTo>
                  <a:pt x="0" y="186151"/>
                  <a:pt x="186151" y="0"/>
                  <a:pt x="415780" y="0"/>
                </a:cubicBezTo>
                <a:cubicBezTo>
                  <a:pt x="645409" y="0"/>
                  <a:pt x="831560" y="186151"/>
                  <a:pt x="831560" y="415780"/>
                </a:cubicBezTo>
                <a:cubicBezTo>
                  <a:pt x="831560" y="645409"/>
                  <a:pt x="645409" y="831560"/>
                  <a:pt x="415780" y="831560"/>
                </a:cubicBezTo>
                <a:cubicBezTo>
                  <a:pt x="186151" y="831560"/>
                  <a:pt x="0" y="645409"/>
                  <a:pt x="0" y="415780"/>
                </a:cubicBezTo>
                <a:close/>
              </a:path>
            </a:pathLst>
          </a:custGeom>
        </p:spPr>
        <p:style>
          <a:lnRef idx="1">
            <a:schemeClr val="accent5">
              <a:hueOff val="-6622584"/>
              <a:satOff val="26541"/>
              <a:lumOff val="5752"/>
              <a:alphaOff val="0"/>
            </a:schemeClr>
          </a:lnRef>
          <a:fillRef idx="3">
            <a:schemeClr val="accent5">
              <a:hueOff val="-6622584"/>
              <a:satOff val="26541"/>
              <a:lumOff val="5752"/>
              <a:alphaOff val="0"/>
            </a:schemeClr>
          </a:fillRef>
          <a:effectRef idx="2">
            <a:schemeClr val="accent5">
              <a:hueOff val="-6622584"/>
              <a:satOff val="26541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048" tIns="154048" rIns="154048" bIns="154048" numCol="1" spcCol="1270" anchor="ctr" anchorCtr="0">
            <a:noAutofit/>
          </a:bodyPr>
          <a:lstStyle/>
          <a:p>
            <a:pPr marL="0" lvl="0" indent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/>
              <a:t>3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C13E6D9-6B18-D6BC-EEDA-D79AE9083E3C}"/>
              </a:ext>
            </a:extLst>
          </p:cNvPr>
          <p:cNvSpPr/>
          <p:nvPr/>
        </p:nvSpPr>
        <p:spPr>
          <a:xfrm>
            <a:off x="4645433" y="3519538"/>
            <a:ext cx="1869496" cy="1965600"/>
          </a:xfrm>
          <a:custGeom>
            <a:avLst/>
            <a:gdLst>
              <a:gd name="connsiteX0" fmla="*/ 0 w 1869496"/>
              <a:gd name="connsiteY0" fmla="*/ 373899 h 1965600"/>
              <a:gd name="connsiteX1" fmla="*/ 560849 w 1869496"/>
              <a:gd name="connsiteY1" fmla="*/ 373899 h 1965600"/>
              <a:gd name="connsiteX2" fmla="*/ 560849 w 1869496"/>
              <a:gd name="connsiteY2" fmla="*/ 373899 h 1965600"/>
              <a:gd name="connsiteX3" fmla="*/ 560849 w 1869496"/>
              <a:gd name="connsiteY3" fmla="*/ 373899 h 1965600"/>
              <a:gd name="connsiteX4" fmla="*/ 934748 w 1869496"/>
              <a:gd name="connsiteY4" fmla="*/ 0 h 1965600"/>
              <a:gd name="connsiteX5" fmla="*/ 1308647 w 1869496"/>
              <a:gd name="connsiteY5" fmla="*/ 373899 h 1965600"/>
              <a:gd name="connsiteX6" fmla="*/ 1308647 w 1869496"/>
              <a:gd name="connsiteY6" fmla="*/ 373899 h 1965600"/>
              <a:gd name="connsiteX7" fmla="*/ 1308647 w 1869496"/>
              <a:gd name="connsiteY7" fmla="*/ 373899 h 1965600"/>
              <a:gd name="connsiteX8" fmla="*/ 1869496 w 1869496"/>
              <a:gd name="connsiteY8" fmla="*/ 373899 h 1965600"/>
              <a:gd name="connsiteX9" fmla="*/ 1869496 w 1869496"/>
              <a:gd name="connsiteY9" fmla="*/ 1965600 h 1965600"/>
              <a:gd name="connsiteX10" fmla="*/ 0 w 1869496"/>
              <a:gd name="connsiteY10" fmla="*/ 1965600 h 1965600"/>
              <a:gd name="connsiteX11" fmla="*/ 0 w 1869496"/>
              <a:gd name="connsiteY11" fmla="*/ 373899 h 196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69496" h="1965600">
                <a:moveTo>
                  <a:pt x="0" y="373899"/>
                </a:moveTo>
                <a:lnTo>
                  <a:pt x="560849" y="373899"/>
                </a:lnTo>
                <a:lnTo>
                  <a:pt x="560849" y="373899"/>
                </a:lnTo>
                <a:lnTo>
                  <a:pt x="560849" y="373899"/>
                </a:lnTo>
                <a:lnTo>
                  <a:pt x="934748" y="0"/>
                </a:lnTo>
                <a:lnTo>
                  <a:pt x="1308647" y="373899"/>
                </a:lnTo>
                <a:lnTo>
                  <a:pt x="1308647" y="373899"/>
                </a:lnTo>
                <a:lnTo>
                  <a:pt x="1308647" y="373899"/>
                </a:lnTo>
                <a:lnTo>
                  <a:pt x="1869496" y="373899"/>
                </a:lnTo>
                <a:lnTo>
                  <a:pt x="1869496" y="1965600"/>
                </a:lnTo>
                <a:lnTo>
                  <a:pt x="0" y="1965600"/>
                </a:lnTo>
                <a:lnTo>
                  <a:pt x="0" y="373899"/>
                </a:lnTo>
                <a:close/>
              </a:path>
            </a:pathLst>
          </a:custGeom>
        </p:spPr>
        <p:style>
          <a:lnRef idx="1">
            <a:schemeClr val="accent5">
              <a:tint val="40000"/>
              <a:alpha val="90000"/>
              <a:hueOff val="-7811259"/>
              <a:satOff val="35093"/>
              <a:lumOff val="2412"/>
              <a:alphaOff val="0"/>
            </a:schemeClr>
          </a:lnRef>
          <a:fillRef idx="1">
            <a:schemeClr val="accent5">
              <a:tint val="40000"/>
              <a:alpha val="90000"/>
              <a:hueOff val="-7811259"/>
              <a:satOff val="35093"/>
              <a:lumOff val="2412"/>
              <a:alphaOff val="0"/>
            </a:schemeClr>
          </a:fillRef>
          <a:effectRef idx="0">
            <a:schemeClr val="accent5">
              <a:tint val="40000"/>
              <a:alpha val="90000"/>
              <a:hueOff val="-7811259"/>
              <a:satOff val="35093"/>
              <a:lumOff val="241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7468" tIns="538999" rIns="147468" bIns="165100" numCol="1" spcCol="1270" anchor="t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/>
              <a:t>Report suspicious activity promptly.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089A41-F50D-B0B4-3F5C-074BCD42C6A7}"/>
              </a:ext>
            </a:extLst>
          </p:cNvPr>
          <p:cNvSpPr/>
          <p:nvPr/>
        </p:nvSpPr>
        <p:spPr>
          <a:xfrm>
            <a:off x="6722651" y="2937885"/>
            <a:ext cx="934748" cy="72"/>
          </a:xfrm>
          <a:prstGeom prst="rect">
            <a:avLst/>
          </a:prstGeom>
        </p:spPr>
        <p:style>
          <a:lnRef idx="1">
            <a:schemeClr val="accent5">
              <a:tint val="40000"/>
              <a:alpha val="90000"/>
              <a:hueOff val="-8787666"/>
              <a:satOff val="39480"/>
              <a:lumOff val="2714"/>
              <a:alphaOff val="0"/>
            </a:schemeClr>
          </a:lnRef>
          <a:fillRef idx="1">
            <a:schemeClr val="accent5">
              <a:tint val="40000"/>
              <a:alpha val="90000"/>
              <a:hueOff val="-8787666"/>
              <a:satOff val="39480"/>
              <a:lumOff val="2714"/>
              <a:alphaOff val="0"/>
            </a:schemeClr>
          </a:fillRef>
          <a:effectRef idx="0">
            <a:schemeClr val="accent5">
              <a:tint val="40000"/>
              <a:alpha val="90000"/>
              <a:hueOff val="-8787666"/>
              <a:satOff val="39480"/>
              <a:lumOff val="2714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220EE91-E002-12AE-8606-52CCFAF7D087}"/>
              </a:ext>
            </a:extLst>
          </p:cNvPr>
          <p:cNvSpPr/>
          <p:nvPr/>
        </p:nvSpPr>
        <p:spPr>
          <a:xfrm>
            <a:off x="7241620" y="2522141"/>
            <a:ext cx="831559" cy="831559"/>
          </a:xfrm>
          <a:custGeom>
            <a:avLst/>
            <a:gdLst>
              <a:gd name="connsiteX0" fmla="*/ 0 w 831559"/>
              <a:gd name="connsiteY0" fmla="*/ 415780 h 831559"/>
              <a:gd name="connsiteX1" fmla="*/ 415780 w 831559"/>
              <a:gd name="connsiteY1" fmla="*/ 0 h 831559"/>
              <a:gd name="connsiteX2" fmla="*/ 831560 w 831559"/>
              <a:gd name="connsiteY2" fmla="*/ 415780 h 831559"/>
              <a:gd name="connsiteX3" fmla="*/ 415780 w 831559"/>
              <a:gd name="connsiteY3" fmla="*/ 831560 h 831559"/>
              <a:gd name="connsiteX4" fmla="*/ 0 w 831559"/>
              <a:gd name="connsiteY4" fmla="*/ 415780 h 831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559" h="831559">
                <a:moveTo>
                  <a:pt x="0" y="415780"/>
                </a:moveTo>
                <a:cubicBezTo>
                  <a:pt x="0" y="186151"/>
                  <a:pt x="186151" y="0"/>
                  <a:pt x="415780" y="0"/>
                </a:cubicBezTo>
                <a:cubicBezTo>
                  <a:pt x="645409" y="0"/>
                  <a:pt x="831560" y="186151"/>
                  <a:pt x="831560" y="415780"/>
                </a:cubicBezTo>
                <a:cubicBezTo>
                  <a:pt x="831560" y="645409"/>
                  <a:pt x="645409" y="831560"/>
                  <a:pt x="415780" y="831560"/>
                </a:cubicBezTo>
                <a:cubicBezTo>
                  <a:pt x="186151" y="831560"/>
                  <a:pt x="0" y="645409"/>
                  <a:pt x="0" y="415780"/>
                </a:cubicBezTo>
                <a:close/>
              </a:path>
            </a:pathLst>
          </a:custGeom>
        </p:spPr>
        <p:style>
          <a:lnRef idx="1">
            <a:schemeClr val="accent5">
              <a:hueOff val="-9933876"/>
              <a:satOff val="39811"/>
              <a:lumOff val="8628"/>
              <a:alphaOff val="0"/>
            </a:schemeClr>
          </a:lnRef>
          <a:fillRef idx="3">
            <a:schemeClr val="accent5">
              <a:hueOff val="-9933876"/>
              <a:satOff val="39811"/>
              <a:lumOff val="8628"/>
              <a:alphaOff val="0"/>
            </a:schemeClr>
          </a:fillRef>
          <a:effectRef idx="2">
            <a:schemeClr val="accent5">
              <a:hueOff val="-9933876"/>
              <a:satOff val="39811"/>
              <a:lumOff val="862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048" tIns="154048" rIns="154048" bIns="154048" numCol="1" spcCol="1270" anchor="ctr" anchorCtr="0">
            <a:noAutofit/>
          </a:bodyPr>
          <a:lstStyle/>
          <a:p>
            <a:pPr marL="0" lvl="0" indent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/>
              <a:t>4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BDD6B4A-1DE9-876A-10EC-E00887C90AA6}"/>
              </a:ext>
            </a:extLst>
          </p:cNvPr>
          <p:cNvSpPr/>
          <p:nvPr/>
        </p:nvSpPr>
        <p:spPr>
          <a:xfrm>
            <a:off x="6722651" y="3519538"/>
            <a:ext cx="1869496" cy="1965600"/>
          </a:xfrm>
          <a:custGeom>
            <a:avLst/>
            <a:gdLst>
              <a:gd name="connsiteX0" fmla="*/ 0 w 1869496"/>
              <a:gd name="connsiteY0" fmla="*/ 373899 h 1965600"/>
              <a:gd name="connsiteX1" fmla="*/ 560849 w 1869496"/>
              <a:gd name="connsiteY1" fmla="*/ 373899 h 1965600"/>
              <a:gd name="connsiteX2" fmla="*/ 560849 w 1869496"/>
              <a:gd name="connsiteY2" fmla="*/ 373899 h 1965600"/>
              <a:gd name="connsiteX3" fmla="*/ 560849 w 1869496"/>
              <a:gd name="connsiteY3" fmla="*/ 373899 h 1965600"/>
              <a:gd name="connsiteX4" fmla="*/ 934748 w 1869496"/>
              <a:gd name="connsiteY4" fmla="*/ 0 h 1965600"/>
              <a:gd name="connsiteX5" fmla="*/ 1308647 w 1869496"/>
              <a:gd name="connsiteY5" fmla="*/ 373899 h 1965600"/>
              <a:gd name="connsiteX6" fmla="*/ 1308647 w 1869496"/>
              <a:gd name="connsiteY6" fmla="*/ 373899 h 1965600"/>
              <a:gd name="connsiteX7" fmla="*/ 1308647 w 1869496"/>
              <a:gd name="connsiteY7" fmla="*/ 373899 h 1965600"/>
              <a:gd name="connsiteX8" fmla="*/ 1869496 w 1869496"/>
              <a:gd name="connsiteY8" fmla="*/ 373899 h 1965600"/>
              <a:gd name="connsiteX9" fmla="*/ 1869496 w 1869496"/>
              <a:gd name="connsiteY9" fmla="*/ 1965600 h 1965600"/>
              <a:gd name="connsiteX10" fmla="*/ 0 w 1869496"/>
              <a:gd name="connsiteY10" fmla="*/ 1965600 h 1965600"/>
              <a:gd name="connsiteX11" fmla="*/ 0 w 1869496"/>
              <a:gd name="connsiteY11" fmla="*/ 373899 h 196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69496" h="1965600">
                <a:moveTo>
                  <a:pt x="0" y="373899"/>
                </a:moveTo>
                <a:lnTo>
                  <a:pt x="560849" y="373899"/>
                </a:lnTo>
                <a:lnTo>
                  <a:pt x="560849" y="373899"/>
                </a:lnTo>
                <a:lnTo>
                  <a:pt x="560849" y="373899"/>
                </a:lnTo>
                <a:lnTo>
                  <a:pt x="934748" y="0"/>
                </a:lnTo>
                <a:lnTo>
                  <a:pt x="1308647" y="373899"/>
                </a:lnTo>
                <a:lnTo>
                  <a:pt x="1308647" y="373899"/>
                </a:lnTo>
                <a:lnTo>
                  <a:pt x="1308647" y="373899"/>
                </a:lnTo>
                <a:lnTo>
                  <a:pt x="1869496" y="373899"/>
                </a:lnTo>
                <a:lnTo>
                  <a:pt x="1869496" y="1965600"/>
                </a:lnTo>
                <a:lnTo>
                  <a:pt x="0" y="1965600"/>
                </a:lnTo>
                <a:lnTo>
                  <a:pt x="0" y="373899"/>
                </a:lnTo>
                <a:close/>
              </a:path>
            </a:pathLst>
          </a:custGeom>
        </p:spPr>
        <p:style>
          <a:lnRef idx="1"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lnRef>
          <a:fillRef idx="1"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fillRef>
          <a:effectRef idx="0"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7468" tIns="538999" rIns="147468" bIns="165100" numCol="1" spcCol="1270" anchor="t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/>
              <a:t>Stay informed and vigilant against social engineering tactics.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8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737</Words>
  <Application>Microsoft Office PowerPoint</Application>
  <PresentationFormat>On-screen Show (4:3)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Phishing and Social Engineering Awareness</vt:lpstr>
      <vt:lpstr>Agenda</vt:lpstr>
      <vt:lpstr>Topic Overview</vt:lpstr>
      <vt:lpstr>Organizational Context</vt:lpstr>
      <vt:lpstr>Realistic Examples</vt:lpstr>
      <vt:lpstr>Consequences of Falling Victim</vt:lpstr>
      <vt:lpstr>Best Practices and Mitigations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ARR PERSONAL ACOUNT</cp:lastModifiedBy>
  <cp:revision>9</cp:revision>
  <dcterms:created xsi:type="dcterms:W3CDTF">2013-01-27T09:14:16Z</dcterms:created>
  <dcterms:modified xsi:type="dcterms:W3CDTF">2025-12-06T16:52:29Z</dcterms:modified>
  <cp:category/>
</cp:coreProperties>
</file>